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9" r:id="rId3"/>
    <p:sldId id="271" r:id="rId4"/>
    <p:sldId id="273" r:id="rId5"/>
    <p:sldId id="275" r:id="rId6"/>
    <p:sldId id="277" r:id="rId7"/>
    <p:sldId id="285" r:id="rId8"/>
    <p:sldId id="287" r:id="rId9"/>
    <p:sldId id="288" r:id="rId10"/>
    <p:sldId id="289" r:id="rId11"/>
    <p:sldId id="290" r:id="rId12"/>
    <p:sldId id="291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EF66FF-A71E-DA30-BA33-19C3DAD6C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5EA427A-D6BE-130B-703D-0AB39BE2A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ADC665-CA6A-0D56-847A-356EBB4CB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AE6E5-2B24-4500-A352-4AE862997524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BB5875-C2AB-9445-51E2-4E515437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0B1B83-C036-5EAD-C7A5-1D8EF3D37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16EFC-74A5-4B50-A535-D76BF5A92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441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E6EA0F-01AB-4317-6188-1735866FD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6A574B-57C7-8207-CA91-C40E87D3E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125664-E1EE-6991-7D65-8B04B3F47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AE6E5-2B24-4500-A352-4AE862997524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321C94-85E4-451A-C48D-FA163DF5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08BC6B-DD6E-5D4C-0F37-A643AE65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16EFC-74A5-4B50-A535-D76BF5A92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24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D441E2-808B-EA4A-BE4D-8BC8D7B30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D33039-E65C-5F38-E176-CA0F65F41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81227B-A74E-8F49-F2EC-203FA06E7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AE6E5-2B24-4500-A352-4AE862997524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A90FFD-D6A9-037C-8E61-B866D9B4B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F4485A-FACB-53CF-1040-DF1E8A119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16EFC-74A5-4B50-A535-D76BF5A92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228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024081-96FB-B89B-2B9C-A082263FB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E77F03-8949-7C67-87F3-B26C2905E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E201AE6-31CA-2567-073E-FAF120B0A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40D57E-9B73-D0AE-15C2-B1BDC26D9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AE6E5-2B24-4500-A352-4AE862997524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C8C163-D294-290B-7B1E-7FA549150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6F6C44-95E9-0E47-6781-B6B739A10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16EFC-74A5-4B50-A535-D76BF5A92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86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D391A-3AA8-C9E4-472F-C774F369E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BFE530-758A-0968-D52C-056B41ADD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740CB0-B747-F81E-CE2F-BC5C65276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04607C-7C7F-5898-73FA-B5639B5CAB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FDE12B-CDAF-4B45-E86A-2C41CE7213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8206659-6874-B0DA-C3C7-9270F2AFF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AE6E5-2B24-4500-A352-4AE862997524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36CC676-7519-58F7-A62F-4EB09C80B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6131E0-0FBD-0363-09BE-D0EFA7A03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16EFC-74A5-4B50-A535-D76BF5A92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940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46A938-D238-B4C6-3DFE-311A7CF6A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70320E8-7B93-A45F-A57D-50885C70A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AE6E5-2B24-4500-A352-4AE862997524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133FAC9-EE40-E981-BA73-268A5C51C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6B154D2-1C0E-4105-A0C5-E95030625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16EFC-74A5-4B50-A535-D76BF5A92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52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D5FA54E-AC97-C4AC-3C85-623AB629F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AE6E5-2B24-4500-A352-4AE862997524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DD1D9E7-F037-BDF3-EEB9-AD32DC02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CDCB55-5825-6CAB-E74A-B625351C4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16EFC-74A5-4B50-A535-D76BF5A92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67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2E7AFF-6970-8001-4785-F879CDF08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38DE78-CC70-9FE8-A079-D839193D7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DC0C7C-4398-DC30-A287-9B031E978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AE40F3-94D8-7946-31F5-B111EA1A1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AE6E5-2B24-4500-A352-4AE862997524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2BB309-0397-BA01-B118-CF0E2AAC1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2BD6C7-F899-E17B-FD48-81B1EE143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16EFC-74A5-4B50-A535-D76BF5A92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283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54777-A1B7-53BF-3186-2EDDA6A01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D957D46-8979-AB17-20E6-777FC93F47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999565-3041-F0EE-84F9-B9FD3109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2F4534-84C6-FDDE-467F-80F05D4E7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AE6E5-2B24-4500-A352-4AE862997524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45B0F8-ED04-1E86-6CF9-1F786C4E9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17CD6F-C2F2-67FF-B930-14FCD078A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16EFC-74A5-4B50-A535-D76BF5A92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614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EE5B60-7CEC-A7C7-1171-451ECA7BC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321E053-6A0A-CF20-D3E5-F5E30482D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9D2C86-345A-BCE0-65A1-874879513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AE6E5-2B24-4500-A352-4AE862997524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CE2F25-72E0-C6F2-935D-E48267982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DDEA67-F4EC-6CE1-CA83-E63A77BCC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16EFC-74A5-4B50-A535-D76BF5A92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989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D757428-12C4-387C-CE22-6F29F3CAC5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2B71901-7F63-C2E0-4420-AFE98EEB0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510253-4008-7648-E93F-A05A56884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AE6E5-2B24-4500-A352-4AE862997524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6F9A16-345C-E586-85AC-53AE1105E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AA1AE4-89EE-2EDA-7C66-F863203EB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16EFC-74A5-4B50-A535-D76BF5A92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2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309C31-05DC-6465-980B-EA7487D02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6B5D28-CA1B-7952-9EEC-1889921BD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333802-E94D-7DAD-2CD2-98509CC7C5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AE6E5-2B24-4500-A352-4AE862997524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7516E6-BCA8-2A0F-4092-B1F7BAE46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8428E4-9FB5-375D-4B42-09D44A017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216EFC-74A5-4B50-A535-D76BF5A92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733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F58C2D-E23F-B0B5-7482-4183ECFB0B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095500"/>
            <a:ext cx="9906000" cy="1270000"/>
          </a:xfrm>
        </p:spPr>
        <p:txBody>
          <a:bodyPr wrap="square" anchor="ctr" anchorCtr="0">
            <a:normAutofit/>
          </a:bodyPr>
          <a:lstStyle/>
          <a:p>
            <a:r>
              <a:rPr lang="ko-KR" sz="3000" b="1" dirty="0">
                <a:solidFill>
                  <a:srgbClr val="172A46"/>
                </a:solidFill>
                <a:latin typeface="맑은 고딕"/>
                <a:ea typeface="맑은 고딕"/>
              </a:rPr>
              <a:t>송파구 행정동별 복지 수요 분석 및 개선 방향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07F885C-1876-7335-875B-442A627A4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400" y="3492500"/>
            <a:ext cx="8890000" cy="698500"/>
          </a:xfrm>
        </p:spPr>
        <p:txBody>
          <a:bodyPr wrap="square" anchor="t" anchorCtr="0">
            <a:normAutofit/>
          </a:bodyPr>
          <a:lstStyle/>
          <a:p>
            <a:r>
              <a:rPr lang="ko-KR" sz="1550" dirty="0">
                <a:solidFill>
                  <a:srgbClr val="26364D"/>
                </a:solidFill>
                <a:latin typeface="맑은 고딕"/>
                <a:ea typeface="맑은 고딕"/>
              </a:rPr>
              <a:t>인구 구조와 변화 추세를 바탕으로 동별 복지시설 우선순위를 도출</a:t>
            </a:r>
          </a:p>
        </p:txBody>
      </p:sp>
      <p:sp>
        <p:nvSpPr>
          <p:cNvPr id="4" name="BP_COVER_TOP">
            <a:extLst>
              <a:ext uri="{FF2B5EF4-FFF2-40B4-BE49-F238E27FC236}">
                <a16:creationId xmlns:a16="http://schemas.microsoft.com/office/drawing/2014/main" id="{516E26B7-8927-4393-8BF3-7462D15633E3}"/>
              </a:ext>
            </a:extLst>
          </p:cNvPr>
          <p:cNvSpPr/>
          <p:nvPr/>
        </p:nvSpPr>
        <p:spPr>
          <a:xfrm>
            <a:off x="0" y="0"/>
            <a:ext cx="12192000" cy="177800"/>
          </a:xfrm>
          <a:prstGeom prst="rect">
            <a:avLst/>
          </a:prstGeom>
          <a:solidFill>
            <a:srgbClr val="172A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BP_COVER_ACCENT">
            <a:extLst>
              <a:ext uri="{FF2B5EF4-FFF2-40B4-BE49-F238E27FC236}">
                <a16:creationId xmlns:a16="http://schemas.microsoft.com/office/drawing/2014/main" id="{36791904-4DBB-4844-9BA7-6C07D80918A0}"/>
              </a:ext>
            </a:extLst>
          </p:cNvPr>
          <p:cNvSpPr/>
          <p:nvPr/>
        </p:nvSpPr>
        <p:spPr>
          <a:xfrm>
            <a:off x="0" y="177800"/>
            <a:ext cx="3302000" cy="508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BP_COVER_BAR">
            <a:extLst>
              <a:ext uri="{FF2B5EF4-FFF2-40B4-BE49-F238E27FC236}">
                <a16:creationId xmlns:a16="http://schemas.microsoft.com/office/drawing/2014/main" id="{D26A5216-2D62-4D1E-B1BD-6A72D0D780C0}"/>
              </a:ext>
            </a:extLst>
          </p:cNvPr>
          <p:cNvSpPr/>
          <p:nvPr/>
        </p:nvSpPr>
        <p:spPr>
          <a:xfrm>
            <a:off x="838200" y="2159000"/>
            <a:ext cx="76200" cy="18034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BP_COVER_RULE">
            <a:extLst>
              <a:ext uri="{FF2B5EF4-FFF2-40B4-BE49-F238E27FC236}">
                <a16:creationId xmlns:a16="http://schemas.microsoft.com/office/drawing/2014/main" id="{4D364379-8C44-47D5-A40F-0E7109DE5DBB}"/>
              </a:ext>
            </a:extLst>
          </p:cNvPr>
          <p:cNvSpPr/>
          <p:nvPr/>
        </p:nvSpPr>
        <p:spPr>
          <a:xfrm>
            <a:off x="1168400" y="4343400"/>
            <a:ext cx="2286000" cy="381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BP_FOOTER_LINE_1">
            <a:extLst>
              <a:ext uri="{FF2B5EF4-FFF2-40B4-BE49-F238E27FC236}">
                <a16:creationId xmlns:a16="http://schemas.microsoft.com/office/drawing/2014/main" id="{496E2356-FDB2-4379-9D5F-DC9E18D3EF72}"/>
              </a:ext>
            </a:extLst>
          </p:cNvPr>
          <p:cNvSpPr/>
          <p:nvPr/>
        </p:nvSpPr>
        <p:spPr>
          <a:xfrm>
            <a:off x="736600" y="6451600"/>
            <a:ext cx="10718800" cy="1524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BP_FOOTER_TEXT_1">
            <a:extLst>
              <a:ext uri="{FF2B5EF4-FFF2-40B4-BE49-F238E27FC236}">
                <a16:creationId xmlns:a16="http://schemas.microsoft.com/office/drawing/2014/main" id="{CA5F23F0-6FDD-4710-B20E-CA132C12DFD6}"/>
              </a:ext>
            </a:extLst>
          </p:cNvPr>
          <p:cNvSpPr txBox="1"/>
          <p:nvPr/>
        </p:nvSpPr>
        <p:spPr>
          <a:xfrm>
            <a:off x="736600" y="65278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 fontScale="85000" lnSpcReduction="20000"/>
          </a:bodyPr>
          <a:lstStyle/>
          <a:p>
            <a:pPr algn="l"/>
            <a:r>
              <a:rPr lang="ko-KR" altLang="en-US" sz="850">
                <a:solidFill>
                  <a:srgbClr val="7A8699"/>
                </a:solidFill>
                <a:latin typeface="맑은 고딕"/>
                <a:ea typeface="맑은 고딕"/>
              </a:rPr>
              <a:t>송파구 행정동별 복지 수요 분석</a:t>
            </a:r>
          </a:p>
        </p:txBody>
      </p:sp>
      <p:sp>
        <p:nvSpPr>
          <p:cNvPr id="10" name="BP_PAGE_1">
            <a:extLst>
              <a:ext uri="{FF2B5EF4-FFF2-40B4-BE49-F238E27FC236}">
                <a16:creationId xmlns:a16="http://schemas.microsoft.com/office/drawing/2014/main" id="{5DC31055-31C1-43E8-919A-5C024D2EF7E8}"/>
              </a:ext>
            </a:extLst>
          </p:cNvPr>
          <p:cNvSpPr txBox="1"/>
          <p:nvPr/>
        </p:nvSpPr>
        <p:spPr>
          <a:xfrm>
            <a:off x="11049000" y="65024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 fontScale="92500" lnSpcReduction="10000"/>
          </a:bodyPr>
          <a:lstStyle/>
          <a:p>
            <a:pPr algn="l"/>
            <a:r>
              <a:rPr lang="en-US" altLang="ko-KR" sz="900" b="1">
                <a:solidFill>
                  <a:srgbClr val="172A46"/>
                </a:solidFill>
                <a:latin typeface="맑은 고딕"/>
                <a:ea typeface="맑은 고딕"/>
              </a:rPr>
              <a:t>01</a:t>
            </a:r>
            <a:endParaRPr lang="ko-KR" altLang="en-US" sz="900" b="1">
              <a:solidFill>
                <a:srgbClr val="172A46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03368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B38832-0072-0ACA-51E7-DC8094BD5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660400"/>
            <a:ext cx="10490200" cy="736600"/>
          </a:xfrm>
        </p:spPr>
        <p:txBody>
          <a:bodyPr wrap="square" anchor="ctr" anchorCtr="0">
            <a:normAutofit/>
          </a:bodyPr>
          <a:lstStyle/>
          <a:p>
            <a:r>
              <a:rPr lang="ko-KR" altLang="en-US" sz="2400" b="1" dirty="0">
                <a:solidFill>
                  <a:srgbClr val="172A46"/>
                </a:solidFill>
                <a:latin typeface="맑은 고딕"/>
                <a:ea typeface="맑은 고딕"/>
              </a:rPr>
              <a:t>동별 인구구조 차이를 반영한 맞춤형 복지계획 필요</a:t>
            </a:r>
            <a:endParaRPr lang="ko-KR" sz="2400" b="1" dirty="0">
              <a:solidFill>
                <a:srgbClr val="172A46"/>
              </a:solidFill>
              <a:latin typeface="맑은 고딕"/>
              <a:ea typeface="맑은 고딕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441C63-D5E9-983E-08F6-FA0F9FE78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600" y="1803400"/>
            <a:ext cx="5765800" cy="4343400"/>
          </a:xfrm>
          <a:solidFill>
            <a:srgbClr val="EAF1F7"/>
          </a:solidFill>
          <a:ln>
            <a:noFill/>
          </a:ln>
        </p:spPr>
        <p:txBody>
          <a:bodyPr wrap="square" anchor="t" anchorCtr="0">
            <a:normAutofit/>
          </a:bodyPr>
          <a:lstStyle/>
          <a:p>
            <a:pPr marL="342900" indent="-285750">
              <a:buChar char="•"/>
            </a:pP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26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개 행정동은 가구 규모와 연령구조가 서로 다르다
현재 인구뿐 아니라 최근 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10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년간의 증감 추세도 함께 고려해야 한다
분석 목표는 동별 수요층을 구분하고 필요한 복지시설의 우선순위를 도출하는 것이다</a:t>
            </a:r>
            <a:endParaRPr lang="ko-KR" sz="1450" dirty="0">
              <a:solidFill>
                <a:srgbClr val="26364D"/>
              </a:solidFill>
              <a:latin typeface="맑은 고딕"/>
              <a:ea typeface="맑은 고딕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14D899D-308F-EB84-5ADF-1555D494A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803400"/>
            <a:ext cx="4648200" cy="4191000"/>
          </a:xfrm>
          <a:prstGeom prst="rect">
            <a:avLst/>
          </a:prstGeom>
        </p:spPr>
      </p:pic>
      <p:sp>
        <p:nvSpPr>
          <p:cNvPr id="5" name="BP_TOP_2">
            <a:extLst>
              <a:ext uri="{FF2B5EF4-FFF2-40B4-BE49-F238E27FC236}">
                <a16:creationId xmlns:a16="http://schemas.microsoft.com/office/drawing/2014/main" id="{CE411BC9-A467-48FD-A54A-8E890C85D7D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72A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BP_TITLE_ACCENT_2">
            <a:extLst>
              <a:ext uri="{FF2B5EF4-FFF2-40B4-BE49-F238E27FC236}">
                <a16:creationId xmlns:a16="http://schemas.microsoft.com/office/drawing/2014/main" id="{600FE273-739B-467D-93C1-7A1960A7CB5F}"/>
              </a:ext>
            </a:extLst>
          </p:cNvPr>
          <p:cNvSpPr/>
          <p:nvPr/>
        </p:nvSpPr>
        <p:spPr>
          <a:xfrm>
            <a:off x="736600" y="736600"/>
            <a:ext cx="63500" cy="5461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BP_TITLE_RULE_2">
            <a:extLst>
              <a:ext uri="{FF2B5EF4-FFF2-40B4-BE49-F238E27FC236}">
                <a16:creationId xmlns:a16="http://schemas.microsoft.com/office/drawing/2014/main" id="{D82AEFA3-A665-4111-87A0-22906687BE09}"/>
              </a:ext>
            </a:extLst>
          </p:cNvPr>
          <p:cNvSpPr/>
          <p:nvPr/>
        </p:nvSpPr>
        <p:spPr>
          <a:xfrm>
            <a:off x="736600" y="1511300"/>
            <a:ext cx="10718800" cy="1524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NAV_BOX_2_0">
            <a:extLst>
              <a:ext uri="{FF2B5EF4-FFF2-40B4-BE49-F238E27FC236}">
                <a16:creationId xmlns:a16="http://schemas.microsoft.com/office/drawing/2014/main" id="{05FB7759-6031-43F1-B55C-E0EC482361D1}"/>
              </a:ext>
            </a:extLst>
          </p:cNvPr>
          <p:cNvSpPr/>
          <p:nvPr/>
        </p:nvSpPr>
        <p:spPr>
          <a:xfrm>
            <a:off x="736600" y="254000"/>
            <a:ext cx="965200" cy="2794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 b="1">
                <a:solidFill>
                  <a:srgbClr val="FFFFFF"/>
                </a:solidFill>
                <a:latin typeface="맑은 고딕"/>
                <a:ea typeface="맑은 고딕"/>
              </a:rPr>
              <a:t>문제 설정</a:t>
            </a:r>
          </a:p>
        </p:txBody>
      </p:sp>
      <p:sp>
        <p:nvSpPr>
          <p:cNvPr id="10" name="NAV_BOX_2_1">
            <a:extLst>
              <a:ext uri="{FF2B5EF4-FFF2-40B4-BE49-F238E27FC236}">
                <a16:creationId xmlns:a16="http://schemas.microsoft.com/office/drawing/2014/main" id="{98EAFAEE-9C34-4793-80EF-D9E903D95EB0}"/>
              </a:ext>
            </a:extLst>
          </p:cNvPr>
          <p:cNvSpPr/>
          <p:nvPr/>
        </p:nvSpPr>
        <p:spPr>
          <a:xfrm>
            <a:off x="18288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데이터 수집</a:t>
            </a:r>
          </a:p>
        </p:txBody>
      </p:sp>
      <p:sp>
        <p:nvSpPr>
          <p:cNvPr id="11" name="NAV_BOX_2_2">
            <a:extLst>
              <a:ext uri="{FF2B5EF4-FFF2-40B4-BE49-F238E27FC236}">
                <a16:creationId xmlns:a16="http://schemas.microsoft.com/office/drawing/2014/main" id="{7414CCBE-B8FE-40F5-BB60-4D8CBABA7895}"/>
              </a:ext>
            </a:extLst>
          </p:cNvPr>
          <p:cNvSpPr/>
          <p:nvPr/>
        </p:nvSpPr>
        <p:spPr>
          <a:xfrm>
            <a:off x="29210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2" name="NAV_BOX_2_3">
            <a:extLst>
              <a:ext uri="{FF2B5EF4-FFF2-40B4-BE49-F238E27FC236}">
                <a16:creationId xmlns:a16="http://schemas.microsoft.com/office/drawing/2014/main" id="{E12C7601-3D01-4A4A-8B10-8C3F8D5C783F}"/>
              </a:ext>
            </a:extLst>
          </p:cNvPr>
          <p:cNvSpPr/>
          <p:nvPr/>
        </p:nvSpPr>
        <p:spPr>
          <a:xfrm>
            <a:off x="40132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13" name="BP_FOOTER_LINE_2">
            <a:extLst>
              <a:ext uri="{FF2B5EF4-FFF2-40B4-BE49-F238E27FC236}">
                <a16:creationId xmlns:a16="http://schemas.microsoft.com/office/drawing/2014/main" id="{63E6BBF6-1288-4C1C-A742-650BCC3E8D97}"/>
              </a:ext>
            </a:extLst>
          </p:cNvPr>
          <p:cNvSpPr/>
          <p:nvPr/>
        </p:nvSpPr>
        <p:spPr>
          <a:xfrm>
            <a:off x="736600" y="6451600"/>
            <a:ext cx="10718800" cy="1524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BP_FOOTER_TEXT_2">
            <a:extLst>
              <a:ext uri="{FF2B5EF4-FFF2-40B4-BE49-F238E27FC236}">
                <a16:creationId xmlns:a16="http://schemas.microsoft.com/office/drawing/2014/main" id="{67A0D5D9-B5B7-43B6-BAF3-90BCA32C9D13}"/>
              </a:ext>
            </a:extLst>
          </p:cNvPr>
          <p:cNvSpPr txBox="1"/>
          <p:nvPr/>
        </p:nvSpPr>
        <p:spPr>
          <a:xfrm>
            <a:off x="736600" y="65278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 fontScale="85000" lnSpcReduction="20000"/>
          </a:bodyPr>
          <a:lstStyle/>
          <a:p>
            <a:pPr algn="l"/>
            <a:r>
              <a:rPr lang="ko-KR" altLang="en-US" sz="850">
                <a:solidFill>
                  <a:srgbClr val="7A8699"/>
                </a:solidFill>
                <a:latin typeface="맑은 고딕"/>
                <a:ea typeface="맑은 고딕"/>
              </a:rPr>
              <a:t>송파구 행정동별 복지 수요 분석</a:t>
            </a:r>
          </a:p>
        </p:txBody>
      </p:sp>
      <p:sp>
        <p:nvSpPr>
          <p:cNvPr id="15" name="BP_PAGE_2">
            <a:extLst>
              <a:ext uri="{FF2B5EF4-FFF2-40B4-BE49-F238E27FC236}">
                <a16:creationId xmlns:a16="http://schemas.microsoft.com/office/drawing/2014/main" id="{E2A2BAEE-A24E-4ECA-9781-4FC357CCA8F8}"/>
              </a:ext>
            </a:extLst>
          </p:cNvPr>
          <p:cNvSpPr txBox="1"/>
          <p:nvPr/>
        </p:nvSpPr>
        <p:spPr>
          <a:xfrm>
            <a:off x="11049000" y="65024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 fontScale="92500" lnSpcReduction="10000"/>
          </a:bodyPr>
          <a:lstStyle/>
          <a:p>
            <a:pPr algn="l"/>
            <a:r>
              <a:rPr lang="en-US" altLang="ko-KR" sz="900" b="1">
                <a:solidFill>
                  <a:srgbClr val="172A46"/>
                </a:solidFill>
                <a:latin typeface="맑은 고딕"/>
                <a:ea typeface="맑은 고딕"/>
              </a:rPr>
              <a:t>02</a:t>
            </a:r>
            <a:endParaRPr lang="ko-KR" altLang="en-US" sz="900" b="1">
              <a:solidFill>
                <a:srgbClr val="172A46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830227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2F9006-8912-E88B-873B-1A0A868E5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660400"/>
            <a:ext cx="10490200" cy="736600"/>
          </a:xfrm>
        </p:spPr>
        <p:txBody>
          <a:bodyPr wrap="square" anchor="ctr" anchorCtr="0">
            <a:normAutofit/>
          </a:bodyPr>
          <a:lstStyle/>
          <a:p>
            <a:r>
              <a:rPr lang="ko-KR" altLang="en-US" sz="2400" b="1" dirty="0">
                <a:solidFill>
                  <a:srgbClr val="172A46"/>
                </a:solidFill>
                <a:latin typeface="맑은 고딕"/>
                <a:ea typeface="맑은 고딕"/>
              </a:rPr>
              <a:t>송파구 인구는 전반적으로 감소하지만 일부 동은 크게 증가</a:t>
            </a:r>
            <a:endParaRPr lang="ko-KR" sz="2400" b="1" dirty="0">
              <a:solidFill>
                <a:srgbClr val="172A46"/>
              </a:solidFill>
              <a:latin typeface="맑은 고딕"/>
              <a:ea typeface="맑은 고딕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322D0B-2E04-3BC7-5068-E259812E5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600" y="1803400"/>
            <a:ext cx="4495800" cy="4343400"/>
          </a:xfrm>
          <a:solidFill>
            <a:srgbClr val="EAF1F7"/>
          </a:solidFill>
          <a:ln>
            <a:noFill/>
          </a:ln>
        </p:spPr>
        <p:txBody>
          <a:bodyPr wrap="square" anchor="t" anchorCtr="0">
            <a:normAutofit/>
          </a:bodyPr>
          <a:lstStyle/>
          <a:p>
            <a:pPr marL="342900" indent="-285750">
              <a:buChar char="•"/>
            </a:pP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26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개 동 중 다수는 최근 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10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년간 인구가 감소했다
가락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1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동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위례동 등은 개발과 신규 입주의 영향으로 인구가 크게 증가했다
따라서 단순 증감률뿐 아니라 변화의 원인과 지속성도 함께 해석해야 한다</a:t>
            </a:r>
            <a:endParaRPr lang="ko-KR" sz="1450" dirty="0">
              <a:solidFill>
                <a:srgbClr val="26364D"/>
              </a:solidFill>
              <a:latin typeface="맑은 고딕"/>
              <a:ea typeface="맑은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EF17EA5-7C98-E943-F39A-4FF57DB67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803400"/>
            <a:ext cx="5918200" cy="4343400"/>
          </a:xfrm>
          <a:prstGeom prst="rect">
            <a:avLst/>
          </a:prstGeom>
        </p:spPr>
      </p:pic>
      <p:sp>
        <p:nvSpPr>
          <p:cNvPr id="7" name="BP_TOP_3">
            <a:extLst>
              <a:ext uri="{FF2B5EF4-FFF2-40B4-BE49-F238E27FC236}">
                <a16:creationId xmlns:a16="http://schemas.microsoft.com/office/drawing/2014/main" id="{11179733-A53C-4C5F-9361-E9E8BBBFADB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72A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BP_TITLE_ACCENT_3">
            <a:extLst>
              <a:ext uri="{FF2B5EF4-FFF2-40B4-BE49-F238E27FC236}">
                <a16:creationId xmlns:a16="http://schemas.microsoft.com/office/drawing/2014/main" id="{8829E76A-BC4B-4388-8EEA-68E0C1FD72CC}"/>
              </a:ext>
            </a:extLst>
          </p:cNvPr>
          <p:cNvSpPr/>
          <p:nvPr/>
        </p:nvSpPr>
        <p:spPr>
          <a:xfrm>
            <a:off x="736600" y="736600"/>
            <a:ext cx="63500" cy="5461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BP_TITLE_RULE_3">
            <a:extLst>
              <a:ext uri="{FF2B5EF4-FFF2-40B4-BE49-F238E27FC236}">
                <a16:creationId xmlns:a16="http://schemas.microsoft.com/office/drawing/2014/main" id="{809035CA-023B-44CE-9D2E-D71CE3175863}"/>
              </a:ext>
            </a:extLst>
          </p:cNvPr>
          <p:cNvSpPr/>
          <p:nvPr/>
        </p:nvSpPr>
        <p:spPr>
          <a:xfrm>
            <a:off x="736600" y="1511300"/>
            <a:ext cx="10718800" cy="1524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NAV_BOX_3_0">
            <a:extLst>
              <a:ext uri="{FF2B5EF4-FFF2-40B4-BE49-F238E27FC236}">
                <a16:creationId xmlns:a16="http://schemas.microsoft.com/office/drawing/2014/main" id="{9AC21C2F-4358-4CAD-91FC-CC957EF6DCB7}"/>
              </a:ext>
            </a:extLst>
          </p:cNvPr>
          <p:cNvSpPr/>
          <p:nvPr/>
        </p:nvSpPr>
        <p:spPr>
          <a:xfrm>
            <a:off x="7366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문제 설정</a:t>
            </a:r>
          </a:p>
        </p:txBody>
      </p:sp>
      <p:sp>
        <p:nvSpPr>
          <p:cNvPr id="11" name="NAV_BOX_3_1">
            <a:extLst>
              <a:ext uri="{FF2B5EF4-FFF2-40B4-BE49-F238E27FC236}">
                <a16:creationId xmlns:a16="http://schemas.microsoft.com/office/drawing/2014/main" id="{EEB27617-19F9-471B-B3A8-638BB8B1E4C3}"/>
              </a:ext>
            </a:extLst>
          </p:cNvPr>
          <p:cNvSpPr/>
          <p:nvPr/>
        </p:nvSpPr>
        <p:spPr>
          <a:xfrm>
            <a:off x="1828800" y="254000"/>
            <a:ext cx="965200" cy="2794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 b="1">
                <a:solidFill>
                  <a:srgbClr val="FFFFFF"/>
                </a:solidFill>
                <a:latin typeface="맑은 고딕"/>
                <a:ea typeface="맑은 고딕"/>
              </a:rPr>
              <a:t>데이터 수집</a:t>
            </a:r>
          </a:p>
        </p:txBody>
      </p:sp>
      <p:sp>
        <p:nvSpPr>
          <p:cNvPr id="12" name="NAV_BOX_3_2">
            <a:extLst>
              <a:ext uri="{FF2B5EF4-FFF2-40B4-BE49-F238E27FC236}">
                <a16:creationId xmlns:a16="http://schemas.microsoft.com/office/drawing/2014/main" id="{4E5EE729-F7BF-40DF-8B81-045B2FFCFE31}"/>
              </a:ext>
            </a:extLst>
          </p:cNvPr>
          <p:cNvSpPr/>
          <p:nvPr/>
        </p:nvSpPr>
        <p:spPr>
          <a:xfrm>
            <a:off x="29210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3" name="NAV_BOX_3_3">
            <a:extLst>
              <a:ext uri="{FF2B5EF4-FFF2-40B4-BE49-F238E27FC236}">
                <a16:creationId xmlns:a16="http://schemas.microsoft.com/office/drawing/2014/main" id="{CEFCB98A-AF01-489A-9D53-080DA6A4DDB5}"/>
              </a:ext>
            </a:extLst>
          </p:cNvPr>
          <p:cNvSpPr/>
          <p:nvPr/>
        </p:nvSpPr>
        <p:spPr>
          <a:xfrm>
            <a:off x="40132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14" name="BP_FOOTER_LINE_3">
            <a:extLst>
              <a:ext uri="{FF2B5EF4-FFF2-40B4-BE49-F238E27FC236}">
                <a16:creationId xmlns:a16="http://schemas.microsoft.com/office/drawing/2014/main" id="{D226DB7D-786F-4434-8531-DBD0F350E318}"/>
              </a:ext>
            </a:extLst>
          </p:cNvPr>
          <p:cNvSpPr/>
          <p:nvPr/>
        </p:nvSpPr>
        <p:spPr>
          <a:xfrm>
            <a:off x="736600" y="6451600"/>
            <a:ext cx="10718800" cy="1524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BP_FOOTER_TEXT_3">
            <a:extLst>
              <a:ext uri="{FF2B5EF4-FFF2-40B4-BE49-F238E27FC236}">
                <a16:creationId xmlns:a16="http://schemas.microsoft.com/office/drawing/2014/main" id="{02BF66EC-9C62-4900-B606-6692C7CF0846}"/>
              </a:ext>
            </a:extLst>
          </p:cNvPr>
          <p:cNvSpPr txBox="1"/>
          <p:nvPr/>
        </p:nvSpPr>
        <p:spPr>
          <a:xfrm>
            <a:off x="736600" y="65278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 fontScale="85000" lnSpcReduction="20000"/>
          </a:bodyPr>
          <a:lstStyle/>
          <a:p>
            <a:pPr algn="l"/>
            <a:r>
              <a:rPr lang="ko-KR" altLang="en-US" sz="850">
                <a:solidFill>
                  <a:srgbClr val="7A8699"/>
                </a:solidFill>
                <a:latin typeface="맑은 고딕"/>
                <a:ea typeface="맑은 고딕"/>
              </a:rPr>
              <a:t>송파구 행정동별 복지 수요 분석</a:t>
            </a:r>
          </a:p>
        </p:txBody>
      </p:sp>
      <p:sp>
        <p:nvSpPr>
          <p:cNvPr id="16" name="BP_PAGE_3">
            <a:extLst>
              <a:ext uri="{FF2B5EF4-FFF2-40B4-BE49-F238E27FC236}">
                <a16:creationId xmlns:a16="http://schemas.microsoft.com/office/drawing/2014/main" id="{9F7838C0-E185-41B0-BDF4-7755D9F6A423}"/>
              </a:ext>
            </a:extLst>
          </p:cNvPr>
          <p:cNvSpPr txBox="1"/>
          <p:nvPr/>
        </p:nvSpPr>
        <p:spPr>
          <a:xfrm>
            <a:off x="11049000" y="65024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 fontScale="92500" lnSpcReduction="10000"/>
          </a:bodyPr>
          <a:lstStyle/>
          <a:p>
            <a:pPr algn="l"/>
            <a:r>
              <a:rPr lang="en-US" altLang="ko-KR" sz="900" b="1">
                <a:solidFill>
                  <a:srgbClr val="172A46"/>
                </a:solidFill>
                <a:latin typeface="맑은 고딕"/>
                <a:ea typeface="맑은 고딕"/>
              </a:rPr>
              <a:t>03</a:t>
            </a:r>
            <a:endParaRPr lang="ko-KR" altLang="en-US" sz="900" b="1">
              <a:solidFill>
                <a:srgbClr val="172A46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119209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1E0B2F-B992-8B59-B9B2-7890917BA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660400"/>
            <a:ext cx="10490200" cy="736600"/>
          </a:xfrm>
        </p:spPr>
        <p:txBody>
          <a:bodyPr wrap="square" anchor="ctr" anchorCtr="0">
            <a:normAutofit/>
          </a:bodyPr>
          <a:lstStyle/>
          <a:p>
            <a:r>
              <a:rPr lang="ko-KR" altLang="en-US" sz="2400" b="1" dirty="0">
                <a:solidFill>
                  <a:srgbClr val="172A46"/>
                </a:solidFill>
                <a:latin typeface="맑은 고딕"/>
                <a:ea typeface="맑은 고딕"/>
              </a:rPr>
              <a:t>일시적 개발 효과와 장기 인구 이동의 구분</a:t>
            </a:r>
            <a:endParaRPr lang="ko-KR" sz="2400" b="1" dirty="0">
              <a:solidFill>
                <a:srgbClr val="172A46"/>
              </a:solidFill>
              <a:latin typeface="맑은 고딕"/>
              <a:ea typeface="맑은 고딕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1AA075-5045-1D07-7022-181213DBB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0" y="1803400"/>
            <a:ext cx="6426200" cy="4343400"/>
          </a:xfrm>
          <a:solidFill>
            <a:srgbClr val="EAF1F7"/>
          </a:solidFill>
          <a:ln>
            <a:noFill/>
          </a:ln>
        </p:spPr>
        <p:txBody>
          <a:bodyPr wrap="square" anchor="t" anchorCtr="0">
            <a:normAutofit/>
          </a:bodyPr>
          <a:lstStyle/>
          <a:p>
            <a:pPr marL="342900" indent="-285750">
              <a:buChar char="•"/>
            </a:pP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급격한 변동은 재개발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대규모 입주 등 단기 요인일 가능성이 높다
완만하지만 지속적인 증감은 구조적 인구 이동으로 볼 수 있다
지속 감소 지역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: 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마천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1·2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동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거여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1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동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풍납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1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동
지속 증가 지역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: 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문정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2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동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방이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2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동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거여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2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동</a:t>
            </a:r>
            <a:endParaRPr lang="ko-KR" sz="1450" dirty="0">
              <a:solidFill>
                <a:srgbClr val="26364D"/>
              </a:solidFill>
              <a:latin typeface="맑은 고딕"/>
              <a:ea typeface="맑은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CF2E70-DDE7-33AF-6004-446B3CA4D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803400"/>
            <a:ext cx="3962400" cy="2159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6547650-5B0B-B981-D1EA-24CD2D0B8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4140200"/>
            <a:ext cx="3962400" cy="2159000"/>
          </a:xfrm>
          <a:prstGeom prst="rect">
            <a:avLst/>
          </a:prstGeom>
        </p:spPr>
      </p:pic>
      <p:sp>
        <p:nvSpPr>
          <p:cNvPr id="7" name="BP_TOP_4">
            <a:extLst>
              <a:ext uri="{FF2B5EF4-FFF2-40B4-BE49-F238E27FC236}">
                <a16:creationId xmlns:a16="http://schemas.microsoft.com/office/drawing/2014/main" id="{9B9553DE-6EB5-426B-87BD-311BCF49CC98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72A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BP_TITLE_ACCENT_4">
            <a:extLst>
              <a:ext uri="{FF2B5EF4-FFF2-40B4-BE49-F238E27FC236}">
                <a16:creationId xmlns:a16="http://schemas.microsoft.com/office/drawing/2014/main" id="{90A4B8EC-E5CE-4E61-91F4-F75AF43B9DE6}"/>
              </a:ext>
            </a:extLst>
          </p:cNvPr>
          <p:cNvSpPr/>
          <p:nvPr/>
        </p:nvSpPr>
        <p:spPr>
          <a:xfrm>
            <a:off x="736600" y="736600"/>
            <a:ext cx="63500" cy="5461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BP_TITLE_RULE_4">
            <a:extLst>
              <a:ext uri="{FF2B5EF4-FFF2-40B4-BE49-F238E27FC236}">
                <a16:creationId xmlns:a16="http://schemas.microsoft.com/office/drawing/2014/main" id="{A9F8374E-F9DC-45E8-A281-20AB61F3933E}"/>
              </a:ext>
            </a:extLst>
          </p:cNvPr>
          <p:cNvSpPr/>
          <p:nvPr/>
        </p:nvSpPr>
        <p:spPr>
          <a:xfrm>
            <a:off x="736600" y="1511300"/>
            <a:ext cx="10718800" cy="1524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NAV_BOX_4_0">
            <a:extLst>
              <a:ext uri="{FF2B5EF4-FFF2-40B4-BE49-F238E27FC236}">
                <a16:creationId xmlns:a16="http://schemas.microsoft.com/office/drawing/2014/main" id="{08D963B9-A34E-4F2F-B42D-DF0FDBC82B4A}"/>
              </a:ext>
            </a:extLst>
          </p:cNvPr>
          <p:cNvSpPr/>
          <p:nvPr/>
        </p:nvSpPr>
        <p:spPr>
          <a:xfrm>
            <a:off x="7366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문제 설정</a:t>
            </a:r>
          </a:p>
        </p:txBody>
      </p:sp>
      <p:sp>
        <p:nvSpPr>
          <p:cNvPr id="12" name="NAV_BOX_4_1">
            <a:extLst>
              <a:ext uri="{FF2B5EF4-FFF2-40B4-BE49-F238E27FC236}">
                <a16:creationId xmlns:a16="http://schemas.microsoft.com/office/drawing/2014/main" id="{B980042C-5F3E-4EC4-9A6F-677EA20F4741}"/>
              </a:ext>
            </a:extLst>
          </p:cNvPr>
          <p:cNvSpPr/>
          <p:nvPr/>
        </p:nvSpPr>
        <p:spPr>
          <a:xfrm>
            <a:off x="1828800" y="254000"/>
            <a:ext cx="965200" cy="2794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 b="1">
                <a:solidFill>
                  <a:srgbClr val="FFFFFF"/>
                </a:solidFill>
                <a:latin typeface="맑은 고딕"/>
                <a:ea typeface="맑은 고딕"/>
              </a:rPr>
              <a:t>데이터 수집</a:t>
            </a:r>
          </a:p>
        </p:txBody>
      </p:sp>
      <p:sp>
        <p:nvSpPr>
          <p:cNvPr id="13" name="NAV_BOX_4_2">
            <a:extLst>
              <a:ext uri="{FF2B5EF4-FFF2-40B4-BE49-F238E27FC236}">
                <a16:creationId xmlns:a16="http://schemas.microsoft.com/office/drawing/2014/main" id="{CE35245D-931A-4FBC-AD21-1D8AA4282A2B}"/>
              </a:ext>
            </a:extLst>
          </p:cNvPr>
          <p:cNvSpPr/>
          <p:nvPr/>
        </p:nvSpPr>
        <p:spPr>
          <a:xfrm>
            <a:off x="29210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4" name="NAV_BOX_4_3">
            <a:extLst>
              <a:ext uri="{FF2B5EF4-FFF2-40B4-BE49-F238E27FC236}">
                <a16:creationId xmlns:a16="http://schemas.microsoft.com/office/drawing/2014/main" id="{280179D6-F05D-40AF-A16D-2E1BC7BBDCA0}"/>
              </a:ext>
            </a:extLst>
          </p:cNvPr>
          <p:cNvSpPr/>
          <p:nvPr/>
        </p:nvSpPr>
        <p:spPr>
          <a:xfrm>
            <a:off x="40132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15" name="BP_FOOTER_LINE_4">
            <a:extLst>
              <a:ext uri="{FF2B5EF4-FFF2-40B4-BE49-F238E27FC236}">
                <a16:creationId xmlns:a16="http://schemas.microsoft.com/office/drawing/2014/main" id="{D353B37B-8ED4-445C-8525-CC584AA29079}"/>
              </a:ext>
            </a:extLst>
          </p:cNvPr>
          <p:cNvSpPr/>
          <p:nvPr/>
        </p:nvSpPr>
        <p:spPr>
          <a:xfrm>
            <a:off x="736600" y="6451600"/>
            <a:ext cx="10718800" cy="1524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BP_FOOTER_TEXT_4">
            <a:extLst>
              <a:ext uri="{FF2B5EF4-FFF2-40B4-BE49-F238E27FC236}">
                <a16:creationId xmlns:a16="http://schemas.microsoft.com/office/drawing/2014/main" id="{D7F2AB36-7E4C-4F7A-9E64-6A78027657E6}"/>
              </a:ext>
            </a:extLst>
          </p:cNvPr>
          <p:cNvSpPr txBox="1"/>
          <p:nvPr/>
        </p:nvSpPr>
        <p:spPr>
          <a:xfrm>
            <a:off x="736600" y="65278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 fontScale="85000" lnSpcReduction="20000"/>
          </a:bodyPr>
          <a:lstStyle/>
          <a:p>
            <a:pPr algn="l"/>
            <a:r>
              <a:rPr lang="ko-KR" altLang="en-US" sz="850">
                <a:solidFill>
                  <a:srgbClr val="7A8699"/>
                </a:solidFill>
                <a:latin typeface="맑은 고딕"/>
                <a:ea typeface="맑은 고딕"/>
              </a:rPr>
              <a:t>송파구 행정동별 복지 수요 분석</a:t>
            </a:r>
          </a:p>
        </p:txBody>
      </p:sp>
      <p:sp>
        <p:nvSpPr>
          <p:cNvPr id="17" name="BP_PAGE_4">
            <a:extLst>
              <a:ext uri="{FF2B5EF4-FFF2-40B4-BE49-F238E27FC236}">
                <a16:creationId xmlns:a16="http://schemas.microsoft.com/office/drawing/2014/main" id="{C0A48CBB-1C4F-46B5-B106-4BDB6546F07B}"/>
              </a:ext>
            </a:extLst>
          </p:cNvPr>
          <p:cNvSpPr txBox="1"/>
          <p:nvPr/>
        </p:nvSpPr>
        <p:spPr>
          <a:xfrm>
            <a:off x="11049000" y="65024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 fontScale="92500" lnSpcReduction="10000"/>
          </a:bodyPr>
          <a:lstStyle/>
          <a:p>
            <a:pPr algn="l"/>
            <a:r>
              <a:rPr lang="en-US" altLang="ko-KR" sz="900" b="1">
                <a:solidFill>
                  <a:srgbClr val="172A46"/>
                </a:solidFill>
                <a:latin typeface="맑은 고딕"/>
                <a:ea typeface="맑은 고딕"/>
              </a:rPr>
              <a:t>04</a:t>
            </a:r>
            <a:endParaRPr lang="ko-KR" altLang="en-US" sz="900" b="1">
              <a:solidFill>
                <a:srgbClr val="172A46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47540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25826B-08D9-88AD-BBE2-EB0B1F44C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660400"/>
            <a:ext cx="10490200" cy="736600"/>
          </a:xfrm>
        </p:spPr>
        <p:txBody>
          <a:bodyPr wrap="square" anchor="ctr" anchorCtr="0">
            <a:normAutofit/>
          </a:bodyPr>
          <a:lstStyle/>
          <a:p>
            <a:r>
              <a:rPr lang="ko-KR" altLang="en-US" sz="2400" b="1" dirty="0">
                <a:solidFill>
                  <a:srgbClr val="172A46"/>
                </a:solidFill>
                <a:latin typeface="맑은 고딕"/>
                <a:ea typeface="맑은 고딕"/>
              </a:rPr>
              <a:t>행정동별 가구 특성과 복지수요</a:t>
            </a:r>
            <a:endParaRPr lang="ko-KR" sz="2400" b="1" dirty="0">
              <a:solidFill>
                <a:srgbClr val="172A46"/>
              </a:solidFill>
              <a:latin typeface="맑은 고딕"/>
              <a:ea typeface="맑은 고딕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BBFBA5-E164-299F-02E5-8849E7E39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3000" y="1803400"/>
            <a:ext cx="5232400" cy="4343400"/>
          </a:xfrm>
          <a:solidFill>
            <a:srgbClr val="EAF1F7"/>
          </a:solidFill>
          <a:ln>
            <a:noFill/>
          </a:ln>
        </p:spPr>
        <p:txBody>
          <a:bodyPr wrap="square" anchor="t" anchorCtr="0">
            <a:normAutofit/>
          </a:bodyPr>
          <a:lstStyle/>
          <a:p>
            <a:pPr marL="342900" indent="-285750">
              <a:buChar char="•"/>
            </a:pP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송파구 행정동의 평균 세대원 수는 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2.33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명이다
평균 이상 지역은 가족 단위 생활지원 수요가 높을 가능성이 있다
평균 이하 지역은 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1·2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인 가구 중심 서비스 수요를 함께 살펴야 한다
연령구조 지표와 결합해 필요한 시설 유형을 판단한다</a:t>
            </a:r>
            <a:endParaRPr lang="ko-KR" sz="1450" dirty="0">
              <a:solidFill>
                <a:srgbClr val="26364D"/>
              </a:solidFill>
              <a:latin typeface="맑은 고딕"/>
              <a:ea typeface="맑은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45CA94-55E4-4908-267C-67610FEE8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803400"/>
            <a:ext cx="5181600" cy="4343400"/>
          </a:xfrm>
          <a:prstGeom prst="rect">
            <a:avLst/>
          </a:prstGeom>
        </p:spPr>
      </p:pic>
      <p:sp>
        <p:nvSpPr>
          <p:cNvPr id="7" name="BP_TOP_5">
            <a:extLst>
              <a:ext uri="{FF2B5EF4-FFF2-40B4-BE49-F238E27FC236}">
                <a16:creationId xmlns:a16="http://schemas.microsoft.com/office/drawing/2014/main" id="{CEFF6474-FB39-44F2-9A68-912F3962E64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72A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BP_TITLE_ACCENT_5">
            <a:extLst>
              <a:ext uri="{FF2B5EF4-FFF2-40B4-BE49-F238E27FC236}">
                <a16:creationId xmlns:a16="http://schemas.microsoft.com/office/drawing/2014/main" id="{44B2274B-ABCE-4FE6-8E03-496EA8C8B4EB}"/>
              </a:ext>
            </a:extLst>
          </p:cNvPr>
          <p:cNvSpPr/>
          <p:nvPr/>
        </p:nvSpPr>
        <p:spPr>
          <a:xfrm>
            <a:off x="736600" y="736600"/>
            <a:ext cx="63500" cy="5461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BP_TITLE_RULE_5">
            <a:extLst>
              <a:ext uri="{FF2B5EF4-FFF2-40B4-BE49-F238E27FC236}">
                <a16:creationId xmlns:a16="http://schemas.microsoft.com/office/drawing/2014/main" id="{61B244B1-9F5B-490D-BA5F-BD69907391B1}"/>
              </a:ext>
            </a:extLst>
          </p:cNvPr>
          <p:cNvSpPr/>
          <p:nvPr/>
        </p:nvSpPr>
        <p:spPr>
          <a:xfrm>
            <a:off x="736600" y="1511300"/>
            <a:ext cx="10718800" cy="1524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NAV_BOX_5_0">
            <a:extLst>
              <a:ext uri="{FF2B5EF4-FFF2-40B4-BE49-F238E27FC236}">
                <a16:creationId xmlns:a16="http://schemas.microsoft.com/office/drawing/2014/main" id="{BA53B6FF-9C10-42C9-B149-B47194E7DB7B}"/>
              </a:ext>
            </a:extLst>
          </p:cNvPr>
          <p:cNvSpPr/>
          <p:nvPr/>
        </p:nvSpPr>
        <p:spPr>
          <a:xfrm>
            <a:off x="7366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문제 설정</a:t>
            </a:r>
          </a:p>
        </p:txBody>
      </p:sp>
      <p:sp>
        <p:nvSpPr>
          <p:cNvPr id="11" name="NAV_BOX_5_1">
            <a:extLst>
              <a:ext uri="{FF2B5EF4-FFF2-40B4-BE49-F238E27FC236}">
                <a16:creationId xmlns:a16="http://schemas.microsoft.com/office/drawing/2014/main" id="{8C5AD747-D6AD-4DE5-B4FB-96716D8ECA85}"/>
              </a:ext>
            </a:extLst>
          </p:cNvPr>
          <p:cNvSpPr/>
          <p:nvPr/>
        </p:nvSpPr>
        <p:spPr>
          <a:xfrm>
            <a:off x="1828800" y="254000"/>
            <a:ext cx="965200" cy="2794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 b="1">
                <a:solidFill>
                  <a:srgbClr val="FFFFFF"/>
                </a:solidFill>
                <a:latin typeface="맑은 고딕"/>
                <a:ea typeface="맑은 고딕"/>
              </a:rPr>
              <a:t>데이터 수집</a:t>
            </a:r>
          </a:p>
        </p:txBody>
      </p:sp>
      <p:sp>
        <p:nvSpPr>
          <p:cNvPr id="12" name="NAV_BOX_5_2">
            <a:extLst>
              <a:ext uri="{FF2B5EF4-FFF2-40B4-BE49-F238E27FC236}">
                <a16:creationId xmlns:a16="http://schemas.microsoft.com/office/drawing/2014/main" id="{27E376E2-1567-483B-BEE4-725B9A9A87F2}"/>
              </a:ext>
            </a:extLst>
          </p:cNvPr>
          <p:cNvSpPr/>
          <p:nvPr/>
        </p:nvSpPr>
        <p:spPr>
          <a:xfrm>
            <a:off x="29210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3" name="NAV_BOX_5_3">
            <a:extLst>
              <a:ext uri="{FF2B5EF4-FFF2-40B4-BE49-F238E27FC236}">
                <a16:creationId xmlns:a16="http://schemas.microsoft.com/office/drawing/2014/main" id="{81C8A241-CA23-4B32-BB56-6D3CB1252FE7}"/>
              </a:ext>
            </a:extLst>
          </p:cNvPr>
          <p:cNvSpPr/>
          <p:nvPr/>
        </p:nvSpPr>
        <p:spPr>
          <a:xfrm>
            <a:off x="40132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14" name="BP_FOOTER_LINE_5">
            <a:extLst>
              <a:ext uri="{FF2B5EF4-FFF2-40B4-BE49-F238E27FC236}">
                <a16:creationId xmlns:a16="http://schemas.microsoft.com/office/drawing/2014/main" id="{7E8BEBAA-9C35-451C-B401-EDB0B9032D89}"/>
              </a:ext>
            </a:extLst>
          </p:cNvPr>
          <p:cNvSpPr/>
          <p:nvPr/>
        </p:nvSpPr>
        <p:spPr>
          <a:xfrm>
            <a:off x="736600" y="6451600"/>
            <a:ext cx="10718800" cy="1524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BP_FOOTER_TEXT_5">
            <a:extLst>
              <a:ext uri="{FF2B5EF4-FFF2-40B4-BE49-F238E27FC236}">
                <a16:creationId xmlns:a16="http://schemas.microsoft.com/office/drawing/2014/main" id="{0F1624C6-3DE6-46EE-867F-C001F95F722D}"/>
              </a:ext>
            </a:extLst>
          </p:cNvPr>
          <p:cNvSpPr txBox="1"/>
          <p:nvPr/>
        </p:nvSpPr>
        <p:spPr>
          <a:xfrm>
            <a:off x="736600" y="65278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 fontScale="85000" lnSpcReduction="20000"/>
          </a:bodyPr>
          <a:lstStyle/>
          <a:p>
            <a:pPr algn="l"/>
            <a:r>
              <a:rPr lang="ko-KR" altLang="en-US" sz="850">
                <a:solidFill>
                  <a:srgbClr val="7A8699"/>
                </a:solidFill>
                <a:latin typeface="맑은 고딕"/>
                <a:ea typeface="맑은 고딕"/>
              </a:rPr>
              <a:t>송파구 행정동별 복지 수요 분석</a:t>
            </a:r>
          </a:p>
        </p:txBody>
      </p:sp>
      <p:sp>
        <p:nvSpPr>
          <p:cNvPr id="16" name="BP_PAGE_5">
            <a:extLst>
              <a:ext uri="{FF2B5EF4-FFF2-40B4-BE49-F238E27FC236}">
                <a16:creationId xmlns:a16="http://schemas.microsoft.com/office/drawing/2014/main" id="{14BD9E9A-74E9-4CF0-8347-087CD93D84AE}"/>
              </a:ext>
            </a:extLst>
          </p:cNvPr>
          <p:cNvSpPr txBox="1"/>
          <p:nvPr/>
        </p:nvSpPr>
        <p:spPr>
          <a:xfrm>
            <a:off x="11049000" y="65024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 fontScale="92500" lnSpcReduction="10000"/>
          </a:bodyPr>
          <a:lstStyle/>
          <a:p>
            <a:pPr algn="l"/>
            <a:r>
              <a:rPr lang="en-US" altLang="ko-KR" sz="900" b="1">
                <a:solidFill>
                  <a:srgbClr val="172A46"/>
                </a:solidFill>
                <a:latin typeface="맑은 고딕"/>
                <a:ea typeface="맑은 고딕"/>
              </a:rPr>
              <a:t>05</a:t>
            </a:r>
            <a:endParaRPr lang="ko-KR" altLang="en-US" sz="900" b="1">
              <a:solidFill>
                <a:srgbClr val="172A46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5666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93A85-96F8-1725-0304-F0DD889CE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660400"/>
            <a:ext cx="10490200" cy="736600"/>
          </a:xfrm>
        </p:spPr>
        <p:txBody>
          <a:bodyPr wrap="square" anchor="ctr" anchorCtr="0">
            <a:normAutofit/>
          </a:bodyPr>
          <a:lstStyle/>
          <a:p>
            <a:r>
              <a:rPr lang="ko-KR" altLang="en-US" sz="2400" b="1" dirty="0">
                <a:solidFill>
                  <a:srgbClr val="172A46"/>
                </a:solidFill>
                <a:latin typeface="맑은 고딕"/>
                <a:ea typeface="맑은 고딕"/>
              </a:rPr>
              <a:t>절대 인구보다 ‘상대적 연령 </a:t>
            </a:r>
            <a:r>
              <a:rPr lang="ko-KR" altLang="en-US" sz="2400" b="1" dirty="0" err="1">
                <a:solidFill>
                  <a:srgbClr val="172A46"/>
                </a:solidFill>
                <a:latin typeface="맑은 고딕"/>
                <a:ea typeface="맑은 고딕"/>
              </a:rPr>
              <a:t>편중’이</a:t>
            </a:r>
            <a:r>
              <a:rPr lang="ko-KR" altLang="en-US" sz="2400" b="1" dirty="0">
                <a:solidFill>
                  <a:srgbClr val="172A46"/>
                </a:solidFill>
                <a:latin typeface="맑은 고딕"/>
                <a:ea typeface="맑은 고딕"/>
              </a:rPr>
              <a:t> 시설 수요를 더 잘 설명한다</a:t>
            </a:r>
            <a:endParaRPr lang="ko-KR" sz="2400" b="1" dirty="0">
              <a:solidFill>
                <a:srgbClr val="172A46"/>
              </a:solidFill>
              <a:latin typeface="맑은 고딕"/>
              <a:ea typeface="맑은 고딕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E7E041-EBE4-0737-3B8B-A09C1FFBD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9400" y="1803400"/>
            <a:ext cx="4826000" cy="2387600"/>
          </a:xfrm>
          <a:solidFill>
            <a:srgbClr val="EAF1F7"/>
          </a:solidFill>
          <a:ln>
            <a:noFill/>
          </a:ln>
        </p:spPr>
        <p:txBody>
          <a:bodyPr wrap="square" anchor="t" anchorCtr="0">
            <a:normAutofit/>
          </a:bodyPr>
          <a:lstStyle/>
          <a:p>
            <a:r>
              <a:rPr lang="ko-KR" altLang="en-US" sz="1350">
                <a:solidFill>
                  <a:srgbClr val="26364D"/>
                </a:solidFill>
                <a:latin typeface="맑은 고딕"/>
                <a:ea typeface="맑은 고딕"/>
              </a:rPr>
              <a:t>연령대별 인구 비율을 행정동 간 동일한 기준으로 비교하기 위해 </a:t>
            </a:r>
            <a:r>
              <a:rPr lang="en-US" altLang="ko-KR" sz="1350">
                <a:solidFill>
                  <a:srgbClr val="26364D"/>
                </a:solidFill>
                <a:latin typeface="맑은 고딕"/>
                <a:ea typeface="맑은 고딕"/>
              </a:rPr>
              <a:t>Z-score</a:t>
            </a:r>
            <a:r>
              <a:rPr lang="ko-KR" altLang="en-US" sz="1350">
                <a:solidFill>
                  <a:srgbClr val="26364D"/>
                </a:solidFill>
                <a:latin typeface="맑은 고딕"/>
                <a:ea typeface="맑은 고딕"/>
              </a:rPr>
              <a:t>로 표준화한다
</a:t>
            </a:r>
            <a:r>
              <a:rPr lang="en-US" altLang="ko-KR" sz="1350">
                <a:solidFill>
                  <a:srgbClr val="26364D"/>
                </a:solidFill>
                <a:latin typeface="맑은 고딕"/>
                <a:ea typeface="맑은 고딕"/>
              </a:rPr>
              <a:t>0</a:t>
            </a:r>
            <a:r>
              <a:rPr lang="ko-KR" altLang="en-US" sz="1350">
                <a:solidFill>
                  <a:srgbClr val="26364D"/>
                </a:solidFill>
                <a:latin typeface="맑은 고딕"/>
                <a:ea typeface="맑은 고딕"/>
              </a:rPr>
              <a:t>은 송파구 평균 수준을 의미한다
</a:t>
            </a:r>
            <a:r>
              <a:rPr lang="en-US" altLang="ko-KR" sz="1350">
                <a:solidFill>
                  <a:srgbClr val="26364D"/>
                </a:solidFill>
                <a:latin typeface="맑은 고딕"/>
                <a:ea typeface="맑은 고딕"/>
              </a:rPr>
              <a:t>+1 / -1</a:t>
            </a:r>
            <a:r>
              <a:rPr lang="ko-KR" altLang="en-US" sz="1350">
                <a:solidFill>
                  <a:srgbClr val="26364D"/>
                </a:solidFill>
                <a:latin typeface="맑은 고딕"/>
                <a:ea typeface="맑은 고딕"/>
              </a:rPr>
              <a:t>은 평균보다 </a:t>
            </a:r>
            <a:r>
              <a:rPr lang="en-US" altLang="ko-KR" sz="1350">
                <a:solidFill>
                  <a:srgbClr val="26364D"/>
                </a:solidFill>
                <a:latin typeface="맑은 고딕"/>
                <a:ea typeface="맑은 고딕"/>
              </a:rPr>
              <a:t>1</a:t>
            </a:r>
            <a:r>
              <a:rPr lang="ko-KR" altLang="en-US" sz="1350">
                <a:solidFill>
                  <a:srgbClr val="26364D"/>
                </a:solidFill>
                <a:latin typeface="맑은 고딕"/>
                <a:ea typeface="맑은 고딕"/>
              </a:rPr>
              <a:t>표준편차 높거나 낮음을 의미한다
</a:t>
            </a:r>
            <a:r>
              <a:rPr lang="en-US" altLang="ko-KR" sz="1350">
                <a:solidFill>
                  <a:srgbClr val="26364D"/>
                </a:solidFill>
                <a:latin typeface="맑은 고딕"/>
                <a:ea typeface="맑은 고딕"/>
              </a:rPr>
              <a:t>|z| ≥ 2</a:t>
            </a:r>
            <a:r>
              <a:rPr lang="ko-KR" altLang="en-US" sz="1350">
                <a:solidFill>
                  <a:srgbClr val="26364D"/>
                </a:solidFill>
                <a:latin typeface="맑은 고딕"/>
                <a:ea typeface="맑은 고딕"/>
              </a:rPr>
              <a:t>이면 평균과 뚜렷하게 다른 연령구조로 해석한다</a:t>
            </a:r>
            <a:endParaRPr lang="ko-KR" sz="1350" dirty="0">
              <a:solidFill>
                <a:srgbClr val="26364D"/>
              </a:solidFill>
              <a:latin typeface="맑은 고딕"/>
              <a:ea typeface="맑은 고딕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B8B506B-E845-9DF7-4F89-76862EFDA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803400"/>
            <a:ext cx="5588000" cy="4343400"/>
          </a:xfrm>
          <a:prstGeom prst="rect">
            <a:avLst/>
          </a:prstGeom>
        </p:spPr>
      </p:pic>
      <p:sp>
        <p:nvSpPr>
          <p:cNvPr id="6" name="BP_TOP_6">
            <a:extLst>
              <a:ext uri="{FF2B5EF4-FFF2-40B4-BE49-F238E27FC236}">
                <a16:creationId xmlns:a16="http://schemas.microsoft.com/office/drawing/2014/main" id="{5EC69F91-CC65-4471-97BE-461A5BE8752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72A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BP_TITLE_ACCENT_6">
            <a:extLst>
              <a:ext uri="{FF2B5EF4-FFF2-40B4-BE49-F238E27FC236}">
                <a16:creationId xmlns:a16="http://schemas.microsoft.com/office/drawing/2014/main" id="{D98648DA-AA5A-4A07-A64A-4AC74D0097A9}"/>
              </a:ext>
            </a:extLst>
          </p:cNvPr>
          <p:cNvSpPr/>
          <p:nvPr/>
        </p:nvSpPr>
        <p:spPr>
          <a:xfrm>
            <a:off x="736600" y="736600"/>
            <a:ext cx="63500" cy="5461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BP_TITLE_RULE_6">
            <a:extLst>
              <a:ext uri="{FF2B5EF4-FFF2-40B4-BE49-F238E27FC236}">
                <a16:creationId xmlns:a16="http://schemas.microsoft.com/office/drawing/2014/main" id="{96CCC58B-CBC3-4865-A660-E580190B6444}"/>
              </a:ext>
            </a:extLst>
          </p:cNvPr>
          <p:cNvSpPr/>
          <p:nvPr/>
        </p:nvSpPr>
        <p:spPr>
          <a:xfrm>
            <a:off x="736600" y="1511300"/>
            <a:ext cx="10718800" cy="1524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NAV_BOX_6_0">
            <a:extLst>
              <a:ext uri="{FF2B5EF4-FFF2-40B4-BE49-F238E27FC236}">
                <a16:creationId xmlns:a16="http://schemas.microsoft.com/office/drawing/2014/main" id="{E470E0B7-8E24-43AC-B7A1-5C21FC76505E}"/>
              </a:ext>
            </a:extLst>
          </p:cNvPr>
          <p:cNvSpPr/>
          <p:nvPr/>
        </p:nvSpPr>
        <p:spPr>
          <a:xfrm>
            <a:off x="7366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문제 설정</a:t>
            </a:r>
          </a:p>
        </p:txBody>
      </p:sp>
      <p:sp>
        <p:nvSpPr>
          <p:cNvPr id="11" name="NAV_BOX_6_1">
            <a:extLst>
              <a:ext uri="{FF2B5EF4-FFF2-40B4-BE49-F238E27FC236}">
                <a16:creationId xmlns:a16="http://schemas.microsoft.com/office/drawing/2014/main" id="{C85EBEAF-5B12-40D9-9BF8-029C5ADE2E24}"/>
              </a:ext>
            </a:extLst>
          </p:cNvPr>
          <p:cNvSpPr/>
          <p:nvPr/>
        </p:nvSpPr>
        <p:spPr>
          <a:xfrm>
            <a:off x="1828800" y="254000"/>
            <a:ext cx="965200" cy="2794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 b="1">
                <a:solidFill>
                  <a:srgbClr val="FFFFFF"/>
                </a:solidFill>
                <a:latin typeface="맑은 고딕"/>
                <a:ea typeface="맑은 고딕"/>
              </a:rPr>
              <a:t>데이터 수집</a:t>
            </a:r>
          </a:p>
        </p:txBody>
      </p:sp>
      <p:sp>
        <p:nvSpPr>
          <p:cNvPr id="12" name="NAV_BOX_6_2">
            <a:extLst>
              <a:ext uri="{FF2B5EF4-FFF2-40B4-BE49-F238E27FC236}">
                <a16:creationId xmlns:a16="http://schemas.microsoft.com/office/drawing/2014/main" id="{AAF2FF84-F8C8-4717-845F-241094EB6532}"/>
              </a:ext>
            </a:extLst>
          </p:cNvPr>
          <p:cNvSpPr/>
          <p:nvPr/>
        </p:nvSpPr>
        <p:spPr>
          <a:xfrm>
            <a:off x="29210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3" name="NAV_BOX_6_3">
            <a:extLst>
              <a:ext uri="{FF2B5EF4-FFF2-40B4-BE49-F238E27FC236}">
                <a16:creationId xmlns:a16="http://schemas.microsoft.com/office/drawing/2014/main" id="{152E7006-9C16-4350-B341-340E11616A14}"/>
              </a:ext>
            </a:extLst>
          </p:cNvPr>
          <p:cNvSpPr/>
          <p:nvPr/>
        </p:nvSpPr>
        <p:spPr>
          <a:xfrm>
            <a:off x="40132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14" name="BP_FOOTER_LINE_6">
            <a:extLst>
              <a:ext uri="{FF2B5EF4-FFF2-40B4-BE49-F238E27FC236}">
                <a16:creationId xmlns:a16="http://schemas.microsoft.com/office/drawing/2014/main" id="{8E368C2E-9092-4698-8A7B-55DA243D3871}"/>
              </a:ext>
            </a:extLst>
          </p:cNvPr>
          <p:cNvSpPr/>
          <p:nvPr/>
        </p:nvSpPr>
        <p:spPr>
          <a:xfrm>
            <a:off x="736600" y="6451600"/>
            <a:ext cx="10718800" cy="1524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BP_FOOTER_TEXT_6">
            <a:extLst>
              <a:ext uri="{FF2B5EF4-FFF2-40B4-BE49-F238E27FC236}">
                <a16:creationId xmlns:a16="http://schemas.microsoft.com/office/drawing/2014/main" id="{B108A6FE-FFD2-43AF-8F87-EDB772CDEBD4}"/>
              </a:ext>
            </a:extLst>
          </p:cNvPr>
          <p:cNvSpPr txBox="1"/>
          <p:nvPr/>
        </p:nvSpPr>
        <p:spPr>
          <a:xfrm>
            <a:off x="736600" y="65278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 fontScale="85000" lnSpcReduction="20000"/>
          </a:bodyPr>
          <a:lstStyle/>
          <a:p>
            <a:pPr algn="l"/>
            <a:r>
              <a:rPr lang="ko-KR" altLang="en-US" sz="850">
                <a:solidFill>
                  <a:srgbClr val="7A8699"/>
                </a:solidFill>
                <a:latin typeface="맑은 고딕"/>
                <a:ea typeface="맑은 고딕"/>
              </a:rPr>
              <a:t>송파구 행정동별 복지 수요 분석</a:t>
            </a:r>
          </a:p>
        </p:txBody>
      </p:sp>
      <p:sp>
        <p:nvSpPr>
          <p:cNvPr id="16" name="BP_PAGE_6">
            <a:extLst>
              <a:ext uri="{FF2B5EF4-FFF2-40B4-BE49-F238E27FC236}">
                <a16:creationId xmlns:a16="http://schemas.microsoft.com/office/drawing/2014/main" id="{E5B7532A-B0F5-4831-8ECA-E55982A75AF4}"/>
              </a:ext>
            </a:extLst>
          </p:cNvPr>
          <p:cNvSpPr txBox="1"/>
          <p:nvPr/>
        </p:nvSpPr>
        <p:spPr>
          <a:xfrm>
            <a:off x="11049000" y="65024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 fontScale="92500" lnSpcReduction="10000"/>
          </a:bodyPr>
          <a:lstStyle/>
          <a:p>
            <a:pPr algn="l"/>
            <a:r>
              <a:rPr lang="en-US" altLang="ko-KR" sz="900" b="1">
                <a:solidFill>
                  <a:srgbClr val="172A46"/>
                </a:solidFill>
                <a:latin typeface="맑은 고딕"/>
                <a:ea typeface="맑은 고딕"/>
              </a:rPr>
              <a:t>06</a:t>
            </a:r>
            <a:endParaRPr lang="ko-KR" altLang="en-US" sz="900" b="1">
              <a:solidFill>
                <a:srgbClr val="172A46"/>
              </a:solidFill>
              <a:latin typeface="맑은 고딕"/>
              <a:ea typeface="맑은 고딕"/>
            </a:endParaRPr>
          </a:p>
        </p:txBody>
      </p:sp>
      <p:sp>
        <p:nvSpPr>
          <p:cNvPr id="17" name="BP_ZSCORE_CARD">
            <a:extLst>
              <a:ext uri="{FF2B5EF4-FFF2-40B4-BE49-F238E27FC236}">
                <a16:creationId xmlns:a16="http://schemas.microsoft.com/office/drawing/2014/main" id="{5359A691-9092-4647-9E6D-FCBE1D1CEB7C}"/>
              </a:ext>
            </a:extLst>
          </p:cNvPr>
          <p:cNvSpPr/>
          <p:nvPr/>
        </p:nvSpPr>
        <p:spPr>
          <a:xfrm>
            <a:off x="6629400" y="4343400"/>
            <a:ext cx="4826000" cy="1803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7E0E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BP_ZSCORE_ACCENT">
            <a:extLst>
              <a:ext uri="{FF2B5EF4-FFF2-40B4-BE49-F238E27FC236}">
                <a16:creationId xmlns:a16="http://schemas.microsoft.com/office/drawing/2014/main" id="{BF4F9E14-401E-4944-B8D1-CB446295B489}"/>
              </a:ext>
            </a:extLst>
          </p:cNvPr>
          <p:cNvSpPr/>
          <p:nvPr/>
        </p:nvSpPr>
        <p:spPr>
          <a:xfrm>
            <a:off x="6629400" y="4343400"/>
            <a:ext cx="76200" cy="18034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BP_ZSCORE_LABEL">
            <a:extLst>
              <a:ext uri="{FF2B5EF4-FFF2-40B4-BE49-F238E27FC236}">
                <a16:creationId xmlns:a16="http://schemas.microsoft.com/office/drawing/2014/main" id="{1603ED22-3279-4B7E-9F13-9416B443A2C7}"/>
              </a:ext>
            </a:extLst>
          </p:cNvPr>
          <p:cNvSpPr txBox="1"/>
          <p:nvPr/>
        </p:nvSpPr>
        <p:spPr>
          <a:xfrm>
            <a:off x="6908800" y="4483100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1F7A8C"/>
                </a:solidFill>
                <a:latin typeface="맑은 고딕"/>
                <a:ea typeface="맑은 고딕"/>
              </a:rPr>
              <a:t>Z-score </a:t>
            </a:r>
            <a:r>
              <a:rPr lang="ko-KR" altLang="en-US" sz="1200" b="1">
                <a:solidFill>
                  <a:srgbClr val="1F7A8C"/>
                </a:solidFill>
                <a:latin typeface="맑은 고딕"/>
                <a:ea typeface="맑은 고딕"/>
              </a:rPr>
              <a:t>표준화 식</a:t>
            </a:r>
          </a:p>
        </p:txBody>
      </p:sp>
      <p:sp>
        <p:nvSpPr>
          <p:cNvPr id="20" name="BP_ZSCORE_FORMULA">
            <a:extLst>
              <a:ext uri="{FF2B5EF4-FFF2-40B4-BE49-F238E27FC236}">
                <a16:creationId xmlns:a16="http://schemas.microsoft.com/office/drawing/2014/main" id="{C3B79563-1586-478F-BC1B-7CFA031F2FE8}"/>
              </a:ext>
            </a:extLst>
          </p:cNvPr>
          <p:cNvSpPr txBox="1"/>
          <p:nvPr/>
        </p:nvSpPr>
        <p:spPr>
          <a:xfrm>
            <a:off x="6908800" y="4800600"/>
            <a:ext cx="4191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altLang="ko-KR" sz="2300" b="1">
                <a:solidFill>
                  <a:srgbClr val="172A46"/>
                </a:solidFill>
                <a:latin typeface="Aptos"/>
              </a:rPr>
              <a:t>z = (x − </a:t>
            </a:r>
            <a:r>
              <a:rPr lang="el-GR" altLang="ko-KR" sz="2300" b="1">
                <a:solidFill>
                  <a:srgbClr val="172A46"/>
                </a:solidFill>
                <a:latin typeface="Aptos"/>
              </a:rPr>
              <a:t>μ) / σ</a:t>
            </a:r>
            <a:endParaRPr lang="ko-KR" altLang="en-US" sz="2300" b="1">
              <a:solidFill>
                <a:srgbClr val="172A46"/>
              </a:solidFill>
              <a:latin typeface="Aptos"/>
            </a:endParaRPr>
          </a:p>
        </p:txBody>
      </p:sp>
      <p:sp>
        <p:nvSpPr>
          <p:cNvPr id="21" name="BP_ZSCORE_DEFINITION">
            <a:extLst>
              <a:ext uri="{FF2B5EF4-FFF2-40B4-BE49-F238E27FC236}">
                <a16:creationId xmlns:a16="http://schemas.microsoft.com/office/drawing/2014/main" id="{63270DE8-6A02-418D-9FD2-57D4EB5F89B8}"/>
              </a:ext>
            </a:extLst>
          </p:cNvPr>
          <p:cNvSpPr txBox="1"/>
          <p:nvPr/>
        </p:nvSpPr>
        <p:spPr>
          <a:xfrm>
            <a:off x="6908800" y="5410200"/>
            <a:ext cx="4191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050">
                <a:solidFill>
                  <a:srgbClr val="66758A"/>
                </a:solidFill>
                <a:latin typeface="맑은 고딕"/>
                <a:ea typeface="맑은 고딕"/>
              </a:rPr>
              <a:t>x: </a:t>
            </a:r>
            <a:r>
              <a:rPr lang="ko-KR" altLang="en-US" sz="1050">
                <a:solidFill>
                  <a:srgbClr val="66758A"/>
                </a:solidFill>
                <a:latin typeface="맑은 고딕"/>
                <a:ea typeface="맑은 고딕"/>
              </a:rPr>
              <a:t>해당 동의 연령대 비율    </a:t>
            </a:r>
            <a:r>
              <a:rPr lang="en-US" altLang="ko-KR" sz="1050">
                <a:solidFill>
                  <a:srgbClr val="66758A"/>
                </a:solidFill>
                <a:latin typeface="맑은 고딕"/>
                <a:ea typeface="맑은 고딕"/>
              </a:rPr>
              <a:t>μ: </a:t>
            </a:r>
            <a:r>
              <a:rPr lang="ko-KR" altLang="en-US" sz="1050">
                <a:solidFill>
                  <a:srgbClr val="66758A"/>
                </a:solidFill>
                <a:latin typeface="맑은 고딕"/>
                <a:ea typeface="맑은 고딕"/>
              </a:rPr>
              <a:t>송파구 평균    </a:t>
            </a:r>
            <a:r>
              <a:rPr lang="en-US" altLang="ko-KR" sz="1050">
                <a:solidFill>
                  <a:srgbClr val="66758A"/>
                </a:solidFill>
                <a:latin typeface="맑은 고딕"/>
                <a:ea typeface="맑은 고딕"/>
              </a:rPr>
              <a:t>σ: </a:t>
            </a:r>
            <a:r>
              <a:rPr lang="ko-KR" altLang="en-US" sz="1050">
                <a:solidFill>
                  <a:srgbClr val="66758A"/>
                </a:solidFill>
                <a:latin typeface="맑은 고딕"/>
                <a:ea typeface="맑은 고딕"/>
              </a:rPr>
              <a:t>표준편차</a:t>
            </a:r>
          </a:p>
        </p:txBody>
      </p:sp>
    </p:spTree>
    <p:extLst>
      <p:ext uri="{BB962C8B-B14F-4D97-AF65-F5344CB8AC3E}">
        <p14:creationId xmlns:p14="http://schemas.microsoft.com/office/powerpoint/2010/main" val="4107058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D5EA1-EAF2-B9ED-C0FF-2FC00B01E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660400"/>
            <a:ext cx="10490200" cy="736600"/>
          </a:xfrm>
        </p:spPr>
        <p:txBody>
          <a:bodyPr wrap="square" anchor="ctr" anchorCtr="0">
            <a:normAutofit/>
          </a:bodyPr>
          <a:lstStyle/>
          <a:p>
            <a:r>
              <a:rPr lang="ko-KR" altLang="en-US" sz="2400" b="1" dirty="0">
                <a:solidFill>
                  <a:srgbClr val="172A46"/>
                </a:solidFill>
                <a:latin typeface="맑은 고딕"/>
                <a:ea typeface="맑은 고딕"/>
              </a:rPr>
              <a:t>가구 규모와 연령대의 상관관계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E2B333-6278-ECA5-5404-B6F97F86B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2400" y="1803400"/>
            <a:ext cx="4953000" cy="4495800"/>
          </a:xfrm>
          <a:solidFill>
            <a:srgbClr val="EAF1F7"/>
          </a:solidFill>
          <a:ln>
            <a:noFill/>
          </a:ln>
        </p:spPr>
        <p:txBody>
          <a:bodyPr wrap="square" anchor="t" anchorCtr="0">
            <a:normAutofit/>
          </a:bodyPr>
          <a:lstStyle/>
          <a:p>
            <a:r>
              <a:rPr lang="en-US" altLang="ko-KR" sz="1400">
                <a:solidFill>
                  <a:srgbClr val="26364D"/>
                </a:solidFill>
                <a:latin typeface="맑은 고딕"/>
                <a:ea typeface="맑은 고딕"/>
              </a:rPr>
              <a:t>0~19</a:t>
            </a:r>
            <a:r>
              <a:rPr lang="ko-KR" altLang="en-US" sz="1400">
                <a:solidFill>
                  <a:srgbClr val="26364D"/>
                </a:solidFill>
                <a:latin typeface="맑은 고딕"/>
                <a:ea typeface="맑은 고딕"/>
              </a:rPr>
              <a:t>세 비율은 세대원 수와 강한 양의 상관관계</a:t>
            </a:r>
            <a:r>
              <a:rPr lang="en-US" altLang="ko-KR" sz="1400">
                <a:solidFill>
                  <a:srgbClr val="26364D"/>
                </a:solidFill>
                <a:latin typeface="맑은 고딕"/>
                <a:ea typeface="맑은 고딕"/>
              </a:rPr>
              <a:t>(r=0.94)</a:t>
            </a:r>
            <a:r>
              <a:rPr lang="ko-KR" altLang="en-US" sz="1400">
                <a:solidFill>
                  <a:srgbClr val="26364D"/>
                </a:solidFill>
                <a:latin typeface="맑은 고딕"/>
                <a:ea typeface="맑은 고딕"/>
              </a:rPr>
              <a:t>를 보인다
</a:t>
            </a:r>
            <a:r>
              <a:rPr lang="en-US" altLang="ko-KR" sz="1400">
                <a:solidFill>
                  <a:srgbClr val="26364D"/>
                </a:solidFill>
                <a:latin typeface="맑은 고딕"/>
                <a:ea typeface="맑은 고딕"/>
              </a:rPr>
              <a:t>20~39</a:t>
            </a:r>
            <a:r>
              <a:rPr lang="ko-KR" altLang="en-US" sz="1400">
                <a:solidFill>
                  <a:srgbClr val="26364D"/>
                </a:solidFill>
                <a:latin typeface="맑은 고딕"/>
                <a:ea typeface="맑은 고딕"/>
              </a:rPr>
              <a:t>세 비율은 강한 음의 상관관계</a:t>
            </a:r>
            <a:r>
              <a:rPr lang="en-US" altLang="ko-KR" sz="1400">
                <a:solidFill>
                  <a:srgbClr val="26364D"/>
                </a:solidFill>
                <a:latin typeface="맑은 고딕"/>
                <a:ea typeface="맑은 고딕"/>
              </a:rPr>
              <a:t>(r=-0.83)</a:t>
            </a:r>
            <a:r>
              <a:rPr lang="ko-KR" altLang="en-US" sz="1400">
                <a:solidFill>
                  <a:srgbClr val="26364D"/>
                </a:solidFill>
                <a:latin typeface="맑은 고딕"/>
                <a:ea typeface="맑은 고딕"/>
              </a:rPr>
              <a:t>로</a:t>
            </a:r>
            <a:r>
              <a:rPr lang="en-US" altLang="ko-KR" sz="1400">
                <a:solidFill>
                  <a:srgbClr val="26364D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00">
                <a:solidFill>
                  <a:srgbClr val="26364D"/>
                </a:solidFill>
                <a:latin typeface="맑은 고딕"/>
                <a:ea typeface="맑은 고딕"/>
              </a:rPr>
              <a:t>청년층의 소가구 성향이 뚜렷하다
</a:t>
            </a:r>
            <a:r>
              <a:rPr lang="en-US" altLang="ko-KR" sz="1400">
                <a:solidFill>
                  <a:srgbClr val="26364D"/>
                </a:solidFill>
                <a:latin typeface="맑은 고딕"/>
                <a:ea typeface="맑은 고딕"/>
              </a:rPr>
              <a:t>40~59</a:t>
            </a:r>
            <a:r>
              <a:rPr lang="ko-KR" altLang="en-US" sz="1400">
                <a:solidFill>
                  <a:srgbClr val="26364D"/>
                </a:solidFill>
                <a:latin typeface="맑은 고딕"/>
                <a:ea typeface="맑은 고딕"/>
              </a:rPr>
              <a:t>세 비율은 양의 상관관계</a:t>
            </a:r>
            <a:r>
              <a:rPr lang="en-US" altLang="ko-KR" sz="1400">
                <a:solidFill>
                  <a:srgbClr val="26364D"/>
                </a:solidFill>
                <a:latin typeface="맑은 고딕"/>
                <a:ea typeface="맑은 고딕"/>
              </a:rPr>
              <a:t>(r=0.85)</a:t>
            </a:r>
            <a:r>
              <a:rPr lang="ko-KR" altLang="en-US" sz="1400">
                <a:solidFill>
                  <a:srgbClr val="26364D"/>
                </a:solidFill>
                <a:latin typeface="맑은 고딕"/>
                <a:ea typeface="맑은 고딕"/>
              </a:rPr>
              <a:t>로</a:t>
            </a:r>
            <a:r>
              <a:rPr lang="en-US" altLang="ko-KR" sz="1400">
                <a:solidFill>
                  <a:srgbClr val="26364D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00">
                <a:solidFill>
                  <a:srgbClr val="26364D"/>
                </a:solidFill>
                <a:latin typeface="맑은 고딕"/>
                <a:ea typeface="맑은 고딕"/>
              </a:rPr>
              <a:t>학령기 가족의 가구 규모가 상대적으로 크다
따라서 세대당 인구는 청년 소가구와 학령기 가족을 구분하는 핵심 지표로 활용할 수 있다</a:t>
            </a:r>
            <a:endParaRPr lang="en-US" altLang="ko-KR" sz="1400" dirty="0">
              <a:solidFill>
                <a:srgbClr val="26364D"/>
              </a:solidFill>
              <a:latin typeface="맑은 고딕"/>
              <a:ea typeface="맑은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8ED5BA8-0A42-854B-76B4-42142CF9A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803400"/>
            <a:ext cx="5461000" cy="22225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D319D30-CBCF-1121-F018-B17400F3F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4178300"/>
            <a:ext cx="5461000" cy="2120900"/>
          </a:xfrm>
          <a:prstGeom prst="rect">
            <a:avLst/>
          </a:prstGeom>
        </p:spPr>
      </p:pic>
      <p:sp>
        <p:nvSpPr>
          <p:cNvPr id="8" name="BP_TOP_7">
            <a:extLst>
              <a:ext uri="{FF2B5EF4-FFF2-40B4-BE49-F238E27FC236}">
                <a16:creationId xmlns:a16="http://schemas.microsoft.com/office/drawing/2014/main" id="{25A00DCA-2C76-4607-80C5-09C1385CF710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72A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BP_TITLE_ACCENT_7">
            <a:extLst>
              <a:ext uri="{FF2B5EF4-FFF2-40B4-BE49-F238E27FC236}">
                <a16:creationId xmlns:a16="http://schemas.microsoft.com/office/drawing/2014/main" id="{DF84B471-BF69-42A6-8B2C-EA56A46BC80F}"/>
              </a:ext>
            </a:extLst>
          </p:cNvPr>
          <p:cNvSpPr/>
          <p:nvPr/>
        </p:nvSpPr>
        <p:spPr>
          <a:xfrm>
            <a:off x="736600" y="736600"/>
            <a:ext cx="63500" cy="5461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BP_TITLE_RULE_7">
            <a:extLst>
              <a:ext uri="{FF2B5EF4-FFF2-40B4-BE49-F238E27FC236}">
                <a16:creationId xmlns:a16="http://schemas.microsoft.com/office/drawing/2014/main" id="{36A3B723-7718-4D3B-A24B-3B0B516D6D46}"/>
              </a:ext>
            </a:extLst>
          </p:cNvPr>
          <p:cNvSpPr/>
          <p:nvPr/>
        </p:nvSpPr>
        <p:spPr>
          <a:xfrm>
            <a:off x="736600" y="1511300"/>
            <a:ext cx="10718800" cy="1524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NAV_BOX_7_0">
            <a:extLst>
              <a:ext uri="{FF2B5EF4-FFF2-40B4-BE49-F238E27FC236}">
                <a16:creationId xmlns:a16="http://schemas.microsoft.com/office/drawing/2014/main" id="{2B4B88F9-BCEF-4A66-BB23-9610E90DFA06}"/>
              </a:ext>
            </a:extLst>
          </p:cNvPr>
          <p:cNvSpPr/>
          <p:nvPr/>
        </p:nvSpPr>
        <p:spPr>
          <a:xfrm>
            <a:off x="7366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문제 설정</a:t>
            </a:r>
          </a:p>
        </p:txBody>
      </p:sp>
      <p:sp>
        <p:nvSpPr>
          <p:cNvPr id="12" name="NAV_BOX_7_1">
            <a:extLst>
              <a:ext uri="{FF2B5EF4-FFF2-40B4-BE49-F238E27FC236}">
                <a16:creationId xmlns:a16="http://schemas.microsoft.com/office/drawing/2014/main" id="{538B263C-F52F-4B42-9602-D817073DAAAE}"/>
              </a:ext>
            </a:extLst>
          </p:cNvPr>
          <p:cNvSpPr/>
          <p:nvPr/>
        </p:nvSpPr>
        <p:spPr>
          <a:xfrm>
            <a:off x="18288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데이터 수집</a:t>
            </a:r>
          </a:p>
        </p:txBody>
      </p:sp>
      <p:sp>
        <p:nvSpPr>
          <p:cNvPr id="13" name="NAV_BOX_7_2">
            <a:extLst>
              <a:ext uri="{FF2B5EF4-FFF2-40B4-BE49-F238E27FC236}">
                <a16:creationId xmlns:a16="http://schemas.microsoft.com/office/drawing/2014/main" id="{3166AC25-C20D-4171-B641-C987C71AC501}"/>
              </a:ext>
            </a:extLst>
          </p:cNvPr>
          <p:cNvSpPr/>
          <p:nvPr/>
        </p:nvSpPr>
        <p:spPr>
          <a:xfrm>
            <a:off x="2921000" y="254000"/>
            <a:ext cx="965200" cy="2794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 b="1">
                <a:solidFill>
                  <a:srgbClr val="FFFFFF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4" name="NAV_BOX_7_3">
            <a:extLst>
              <a:ext uri="{FF2B5EF4-FFF2-40B4-BE49-F238E27FC236}">
                <a16:creationId xmlns:a16="http://schemas.microsoft.com/office/drawing/2014/main" id="{7E0EBCD4-6C8C-4FC8-A2B3-37903068D403}"/>
              </a:ext>
            </a:extLst>
          </p:cNvPr>
          <p:cNvSpPr/>
          <p:nvPr/>
        </p:nvSpPr>
        <p:spPr>
          <a:xfrm>
            <a:off x="40132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15" name="BP_FOOTER_LINE_7">
            <a:extLst>
              <a:ext uri="{FF2B5EF4-FFF2-40B4-BE49-F238E27FC236}">
                <a16:creationId xmlns:a16="http://schemas.microsoft.com/office/drawing/2014/main" id="{9B44FBD3-85B0-4C51-9C23-07F0242E9A42}"/>
              </a:ext>
            </a:extLst>
          </p:cNvPr>
          <p:cNvSpPr/>
          <p:nvPr/>
        </p:nvSpPr>
        <p:spPr>
          <a:xfrm>
            <a:off x="736600" y="6451600"/>
            <a:ext cx="10718800" cy="1524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BP_FOOTER_TEXT_7">
            <a:extLst>
              <a:ext uri="{FF2B5EF4-FFF2-40B4-BE49-F238E27FC236}">
                <a16:creationId xmlns:a16="http://schemas.microsoft.com/office/drawing/2014/main" id="{A850455B-8E33-4FEE-9600-E847263DC753}"/>
              </a:ext>
            </a:extLst>
          </p:cNvPr>
          <p:cNvSpPr txBox="1"/>
          <p:nvPr/>
        </p:nvSpPr>
        <p:spPr>
          <a:xfrm>
            <a:off x="736600" y="65278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 fontScale="85000" lnSpcReduction="20000"/>
          </a:bodyPr>
          <a:lstStyle/>
          <a:p>
            <a:pPr algn="l"/>
            <a:r>
              <a:rPr lang="ko-KR" altLang="en-US" sz="850">
                <a:solidFill>
                  <a:srgbClr val="7A8699"/>
                </a:solidFill>
                <a:latin typeface="맑은 고딕"/>
                <a:ea typeface="맑은 고딕"/>
              </a:rPr>
              <a:t>송파구 행정동별 복지 수요 분석</a:t>
            </a:r>
          </a:p>
        </p:txBody>
      </p:sp>
      <p:sp>
        <p:nvSpPr>
          <p:cNvPr id="17" name="BP_PAGE_7">
            <a:extLst>
              <a:ext uri="{FF2B5EF4-FFF2-40B4-BE49-F238E27FC236}">
                <a16:creationId xmlns:a16="http://schemas.microsoft.com/office/drawing/2014/main" id="{A0E8F842-F6CC-4E78-AC40-E39E59BB0660}"/>
              </a:ext>
            </a:extLst>
          </p:cNvPr>
          <p:cNvSpPr txBox="1"/>
          <p:nvPr/>
        </p:nvSpPr>
        <p:spPr>
          <a:xfrm>
            <a:off x="11049000" y="65024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 fontScale="92500" lnSpcReduction="10000"/>
          </a:bodyPr>
          <a:lstStyle/>
          <a:p>
            <a:pPr algn="l"/>
            <a:r>
              <a:rPr lang="en-US" altLang="ko-KR" sz="900" b="1">
                <a:solidFill>
                  <a:srgbClr val="172A46"/>
                </a:solidFill>
                <a:latin typeface="맑은 고딕"/>
                <a:ea typeface="맑은 고딕"/>
              </a:rPr>
              <a:t>07</a:t>
            </a:r>
            <a:endParaRPr lang="ko-KR" altLang="en-US" sz="900" b="1">
              <a:solidFill>
                <a:srgbClr val="172A46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86490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5C300C5-5873-1C07-3854-04A255EB5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3000" y="1803400"/>
            <a:ext cx="5232400" cy="4343400"/>
          </a:xfrm>
          <a:solidFill>
            <a:srgbClr val="EAF1F7"/>
          </a:solidFill>
          <a:ln>
            <a:noFill/>
          </a:ln>
        </p:spPr>
        <p:txBody>
          <a:bodyPr wrap="square" anchor="t" anchorCtr="0">
            <a:normAutofit/>
          </a:bodyPr>
          <a:lstStyle/>
          <a:p>
            <a:r>
              <a:rPr lang="ko-KR" altLang="en-US" sz="1400" dirty="0">
                <a:solidFill>
                  <a:srgbClr val="26364D"/>
                </a:solidFill>
                <a:latin typeface="맑은 고딕"/>
                <a:ea typeface="맑은 고딕"/>
              </a:rPr>
              <a:t>청년 </a:t>
            </a:r>
            <a:r>
              <a:rPr lang="ko-KR" altLang="en-US" sz="1400" dirty="0" err="1">
                <a:solidFill>
                  <a:srgbClr val="26364D"/>
                </a:solidFill>
                <a:latin typeface="맑은 고딕"/>
                <a:ea typeface="맑은 고딕"/>
              </a:rPr>
              <a:t>소가구</a:t>
            </a:r>
            <a:r>
              <a:rPr lang="ko-KR" altLang="en-US" sz="1400" dirty="0">
                <a:solidFill>
                  <a:srgbClr val="26364D"/>
                </a:solidFill>
                <a:latin typeface="맑은 고딕"/>
                <a:ea typeface="맑은 고딕"/>
              </a:rPr>
              <a:t>
</a:t>
            </a:r>
            <a:r>
              <a:rPr lang="en-US" altLang="ko-KR" sz="1400" dirty="0">
                <a:solidFill>
                  <a:srgbClr val="26364D"/>
                </a:solidFill>
                <a:latin typeface="맑은 고딕"/>
                <a:ea typeface="맑은 고딕"/>
              </a:rPr>
              <a:t>20~39</a:t>
            </a:r>
            <a:r>
              <a:rPr lang="ko-KR" altLang="en-US" sz="1400" dirty="0">
                <a:solidFill>
                  <a:srgbClr val="26364D"/>
                </a:solidFill>
                <a:latin typeface="맑은 고딕"/>
                <a:ea typeface="맑은 고딕"/>
              </a:rPr>
              <a:t>세 비율</a:t>
            </a:r>
            <a:r>
              <a:rPr lang="en-US" altLang="ko-KR" sz="1400" dirty="0">
                <a:solidFill>
                  <a:srgbClr val="26364D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 dirty="0">
                <a:solidFill>
                  <a:srgbClr val="26364D"/>
                </a:solidFill>
                <a:latin typeface="맑은 고딕"/>
                <a:ea typeface="맑은 고딕"/>
              </a:rPr>
              <a:t>인구 규모</a:t>
            </a:r>
            <a:r>
              <a:rPr lang="en-US" altLang="ko-KR" sz="1400" dirty="0">
                <a:solidFill>
                  <a:srgbClr val="26364D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 dirty="0">
                <a:solidFill>
                  <a:srgbClr val="26364D"/>
                </a:solidFill>
                <a:latin typeface="맑은 고딕"/>
                <a:ea typeface="맑은 고딕"/>
              </a:rPr>
              <a:t>낮은 세대당 인구</a:t>
            </a:r>
            <a:endParaRPr lang="en-US" altLang="ko-KR" sz="1400" dirty="0">
              <a:solidFill>
                <a:srgbClr val="26364D"/>
              </a:solidFill>
              <a:latin typeface="맑은 고딕"/>
              <a:ea typeface="맑은 고딕"/>
            </a:endParaRPr>
          </a:p>
          <a:p>
            <a:r>
              <a:rPr lang="ko-KR" altLang="en-US" sz="1400" dirty="0">
                <a:solidFill>
                  <a:srgbClr val="26364D"/>
                </a:solidFill>
                <a:latin typeface="맑은 고딕"/>
                <a:ea typeface="맑은 고딕"/>
              </a:rPr>
              <a:t>취업상담 및 커뮤니티 시설</a:t>
            </a:r>
            <a:r>
              <a:rPr lang="en-US" altLang="ko-KR" sz="1400" dirty="0">
                <a:solidFill>
                  <a:srgbClr val="26364D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00" dirty="0">
                <a:solidFill>
                  <a:srgbClr val="26364D"/>
                </a:solidFill>
                <a:latin typeface="맑은 고딕"/>
                <a:ea typeface="맑은 고딕"/>
              </a:rPr>
              <a:t>공유오피스 등</a:t>
            </a:r>
            <a:endParaRPr lang="en-US" altLang="ko-KR" sz="1400" dirty="0">
              <a:solidFill>
                <a:srgbClr val="26364D"/>
              </a:solidFill>
              <a:latin typeface="맑은 고딕"/>
              <a:ea typeface="맑은 고딕"/>
            </a:endParaRPr>
          </a:p>
          <a:p>
            <a:r>
              <a:rPr lang="ko-KR" altLang="en-US" sz="1400" dirty="0">
                <a:solidFill>
                  <a:srgbClr val="26364D"/>
                </a:solidFill>
                <a:latin typeface="맑은 고딕"/>
                <a:ea typeface="맑은 고딕"/>
              </a:rPr>
              <a:t>
</a:t>
            </a:r>
            <a:r>
              <a:rPr lang="ko-KR" altLang="en-US" sz="1400" dirty="0" err="1">
                <a:solidFill>
                  <a:srgbClr val="26364D"/>
                </a:solidFill>
                <a:latin typeface="맑은 고딕"/>
                <a:ea typeface="맑은 고딕"/>
              </a:rPr>
              <a:t>학령기</a:t>
            </a:r>
            <a:r>
              <a:rPr lang="ko-KR" altLang="en-US" sz="1400" dirty="0">
                <a:solidFill>
                  <a:srgbClr val="26364D"/>
                </a:solidFill>
                <a:latin typeface="맑은 고딕"/>
                <a:ea typeface="맑은 고딕"/>
              </a:rPr>
              <a:t> 가족
</a:t>
            </a:r>
            <a:r>
              <a:rPr lang="en-US" altLang="ko-KR" sz="1400" dirty="0">
                <a:solidFill>
                  <a:srgbClr val="26364D"/>
                </a:solidFill>
                <a:latin typeface="맑은 고딕"/>
                <a:ea typeface="맑은 고딕"/>
              </a:rPr>
              <a:t>10~19</a:t>
            </a:r>
            <a:r>
              <a:rPr lang="ko-KR" altLang="en-US" sz="1400" dirty="0">
                <a:solidFill>
                  <a:srgbClr val="26364D"/>
                </a:solidFill>
                <a:latin typeface="맑은 고딕"/>
                <a:ea typeface="맑은 고딕"/>
              </a:rPr>
              <a:t>세와 </a:t>
            </a:r>
            <a:r>
              <a:rPr lang="en-US" altLang="ko-KR" sz="1400" dirty="0">
                <a:solidFill>
                  <a:srgbClr val="26364D"/>
                </a:solidFill>
                <a:latin typeface="맑은 고딕"/>
                <a:ea typeface="맑은 고딕"/>
              </a:rPr>
              <a:t>40~49</a:t>
            </a:r>
            <a:r>
              <a:rPr lang="ko-KR" altLang="en-US" sz="1400" dirty="0">
                <a:solidFill>
                  <a:srgbClr val="26364D"/>
                </a:solidFill>
                <a:latin typeface="맑은 고딕"/>
                <a:ea typeface="맑은 고딕"/>
              </a:rPr>
              <a:t>세 비율</a:t>
            </a:r>
            <a:r>
              <a:rPr lang="en-US" altLang="ko-KR" sz="1400" dirty="0">
                <a:solidFill>
                  <a:srgbClr val="26364D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 dirty="0">
                <a:solidFill>
                  <a:srgbClr val="26364D"/>
                </a:solidFill>
                <a:latin typeface="맑은 고딕"/>
                <a:ea typeface="맑은 고딕"/>
              </a:rPr>
              <a:t>관련 인구 규모</a:t>
            </a:r>
            <a:r>
              <a:rPr lang="en-US" altLang="ko-KR" sz="1400" dirty="0">
                <a:solidFill>
                  <a:srgbClr val="26364D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 dirty="0">
                <a:solidFill>
                  <a:srgbClr val="26364D"/>
                </a:solidFill>
                <a:latin typeface="맑은 고딕"/>
                <a:ea typeface="맑은 고딕"/>
              </a:rPr>
              <a:t>높은 세대당 인구
</a:t>
            </a:r>
            <a:r>
              <a:rPr lang="ko-KR" altLang="en-US" sz="1400" dirty="0" err="1">
                <a:solidFill>
                  <a:srgbClr val="26364D"/>
                </a:solidFill>
                <a:latin typeface="맑은 고딕"/>
                <a:ea typeface="맑은 고딕"/>
              </a:rPr>
              <a:t>방과후</a:t>
            </a:r>
            <a:r>
              <a:rPr lang="ko-KR" altLang="en-US" sz="1400" dirty="0">
                <a:solidFill>
                  <a:srgbClr val="26364D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 err="1">
                <a:solidFill>
                  <a:srgbClr val="26364D"/>
                </a:solidFill>
                <a:latin typeface="맑은 고딕"/>
                <a:ea typeface="맑은 고딕"/>
              </a:rPr>
              <a:t>돌봄센터</a:t>
            </a:r>
            <a:r>
              <a:rPr lang="en-US" altLang="ko-KR" sz="1400" dirty="0">
                <a:solidFill>
                  <a:srgbClr val="26364D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00" dirty="0">
                <a:solidFill>
                  <a:srgbClr val="26364D"/>
                </a:solidFill>
                <a:latin typeface="맑은 고딕"/>
                <a:ea typeface="맑은 고딕"/>
              </a:rPr>
              <a:t>청소년 학습 지원센터 등</a:t>
            </a:r>
            <a:endParaRPr lang="en-US" altLang="ko-KR" sz="1400" dirty="0">
              <a:solidFill>
                <a:srgbClr val="26364D"/>
              </a:solidFill>
              <a:latin typeface="맑은 고딕"/>
              <a:ea typeface="맑은 고딕"/>
            </a:endParaRPr>
          </a:p>
          <a:p>
            <a:r>
              <a:rPr lang="ko-KR" altLang="en-US" sz="1400" dirty="0">
                <a:solidFill>
                  <a:srgbClr val="26364D"/>
                </a:solidFill>
                <a:latin typeface="맑은 고딕"/>
                <a:ea typeface="맑은 고딕"/>
              </a:rPr>
              <a:t>
고령층
</a:t>
            </a:r>
            <a:r>
              <a:rPr lang="en-US" altLang="ko-KR" sz="1400" dirty="0">
                <a:solidFill>
                  <a:srgbClr val="26364D"/>
                </a:solidFill>
                <a:latin typeface="맑은 고딕"/>
                <a:ea typeface="맑은 고딕"/>
              </a:rPr>
              <a:t>70</a:t>
            </a:r>
            <a:r>
              <a:rPr lang="ko-KR" altLang="en-US" sz="1400" dirty="0">
                <a:solidFill>
                  <a:srgbClr val="26364D"/>
                </a:solidFill>
                <a:latin typeface="맑은 고딕"/>
                <a:ea typeface="맑은 고딕"/>
              </a:rPr>
              <a:t>세 이상 비율</a:t>
            </a:r>
            <a:r>
              <a:rPr lang="en-US" altLang="ko-KR" sz="1400" dirty="0">
                <a:solidFill>
                  <a:srgbClr val="26364D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 dirty="0">
                <a:solidFill>
                  <a:srgbClr val="26364D"/>
                </a:solidFill>
                <a:latin typeface="맑은 고딕"/>
                <a:ea typeface="맑은 고딕"/>
              </a:rPr>
              <a:t>실제 인구 규모
노인복지관</a:t>
            </a:r>
            <a:r>
              <a:rPr lang="en-US" altLang="ko-KR" sz="1400" dirty="0">
                <a:solidFill>
                  <a:srgbClr val="26364D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00" dirty="0">
                <a:solidFill>
                  <a:srgbClr val="26364D"/>
                </a:solidFill>
                <a:latin typeface="맑은 고딕"/>
                <a:ea typeface="맑은 고딕"/>
              </a:rPr>
              <a:t>재가노인복지시설 등</a:t>
            </a:r>
            <a:endParaRPr lang="en-US" altLang="ko-KR" sz="1400" dirty="0">
              <a:solidFill>
                <a:srgbClr val="26364D"/>
              </a:solidFill>
              <a:latin typeface="맑은 고딕"/>
              <a:ea typeface="맑은 고딕"/>
            </a:endParaRPr>
          </a:p>
          <a:p>
            <a:r>
              <a:rPr lang="ko-KR" altLang="en-US" sz="1400" dirty="0">
                <a:solidFill>
                  <a:srgbClr val="26364D"/>
                </a:solidFill>
                <a:latin typeface="맑은 고딕"/>
                <a:ea typeface="맑은 고딕"/>
              </a:rPr>
              <a:t>
세 유형별 지표를 결합해 행정동의 상대적 복지 수요를 비교한다</a:t>
            </a:r>
            <a:endParaRPr lang="ko-KR" sz="1400" dirty="0">
              <a:solidFill>
                <a:srgbClr val="26364D"/>
              </a:solidFill>
              <a:latin typeface="맑은 고딕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EDFA88F-690D-7821-9A08-874C2556F2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68" t="2571" r="2261" b="46226"/>
          <a:stretch>
            <a:fillRect/>
          </a:stretch>
        </p:blipFill>
        <p:spPr>
          <a:xfrm>
            <a:off x="736600" y="1981200"/>
            <a:ext cx="3299460" cy="106423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2B1A4FE-FF98-2EDC-D581-FCC8C6A6D6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05" t="1195" r="1094" b="46487"/>
          <a:stretch>
            <a:fillRect/>
          </a:stretch>
        </p:blipFill>
        <p:spPr>
          <a:xfrm>
            <a:off x="736600" y="3378200"/>
            <a:ext cx="4657858" cy="106423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ECC8110-B644-D8EA-EEBD-4970908F6F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006" t="1356" r="2532" b="47416"/>
          <a:stretch>
            <a:fillRect/>
          </a:stretch>
        </p:blipFill>
        <p:spPr>
          <a:xfrm>
            <a:off x="736600" y="4775200"/>
            <a:ext cx="2255521" cy="10642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BB8DCA-2CC4-4DF4-A812-0C396E297E84}"/>
              </a:ext>
            </a:extLst>
          </p:cNvPr>
          <p:cNvSpPr txBox="1"/>
          <p:nvPr/>
        </p:nvSpPr>
        <p:spPr>
          <a:xfrm>
            <a:off x="965200" y="660400"/>
            <a:ext cx="104902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ko-KR" altLang="en-US" sz="2400" b="1">
                <a:solidFill>
                  <a:srgbClr val="172A46"/>
                </a:solidFill>
                <a:latin typeface="맑은 고딕"/>
                <a:ea typeface="맑은 고딕"/>
              </a:rPr>
              <a:t>복지 수요를 청년</a:t>
            </a:r>
            <a:r>
              <a:rPr lang="en-US" altLang="ko-KR" sz="2400" b="1">
                <a:solidFill>
                  <a:srgbClr val="172A46"/>
                </a:solidFill>
                <a:latin typeface="맑은 고딕"/>
                <a:ea typeface="맑은 고딕"/>
              </a:rPr>
              <a:t>·</a:t>
            </a:r>
            <a:r>
              <a:rPr lang="ko-KR" altLang="en-US" sz="2400" b="1">
                <a:solidFill>
                  <a:srgbClr val="172A46"/>
                </a:solidFill>
                <a:latin typeface="맑은 고딕"/>
                <a:ea typeface="맑은 고딕"/>
              </a:rPr>
              <a:t>학령기 가족</a:t>
            </a:r>
            <a:r>
              <a:rPr lang="en-US" altLang="ko-KR" sz="2400" b="1">
                <a:solidFill>
                  <a:srgbClr val="172A46"/>
                </a:solidFill>
                <a:latin typeface="맑은 고딕"/>
                <a:ea typeface="맑은 고딕"/>
              </a:rPr>
              <a:t>·</a:t>
            </a:r>
            <a:r>
              <a:rPr lang="ko-KR" altLang="en-US" sz="2400" b="1">
                <a:solidFill>
                  <a:srgbClr val="172A46"/>
                </a:solidFill>
                <a:latin typeface="맑은 고딕"/>
                <a:ea typeface="맑은 고딕"/>
              </a:rPr>
              <a:t>고령층 세 유형으로 구분했다</a:t>
            </a:r>
            <a:endParaRPr lang="ko-KR" altLang="en-US" sz="2400" b="1" dirty="0">
              <a:solidFill>
                <a:srgbClr val="172A46"/>
              </a:solidFill>
              <a:latin typeface="맑은 고딕"/>
              <a:ea typeface="맑은 고딕"/>
            </a:endParaRPr>
          </a:p>
        </p:txBody>
      </p:sp>
      <p:sp>
        <p:nvSpPr>
          <p:cNvPr id="5" name="BP_TOP_7">
            <a:extLst>
              <a:ext uri="{FF2B5EF4-FFF2-40B4-BE49-F238E27FC236}">
                <a16:creationId xmlns:a16="http://schemas.microsoft.com/office/drawing/2014/main" id="{42973D25-2F27-4345-8167-048513A4333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72A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BP_TITLE_ACCENT_7">
            <a:extLst>
              <a:ext uri="{FF2B5EF4-FFF2-40B4-BE49-F238E27FC236}">
                <a16:creationId xmlns:a16="http://schemas.microsoft.com/office/drawing/2014/main" id="{187A9A78-0D40-4B16-9D57-B7058EACA538}"/>
              </a:ext>
            </a:extLst>
          </p:cNvPr>
          <p:cNvSpPr/>
          <p:nvPr/>
        </p:nvSpPr>
        <p:spPr>
          <a:xfrm>
            <a:off x="736600" y="736600"/>
            <a:ext cx="63500" cy="5461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BP_TITLE_RULE_7">
            <a:extLst>
              <a:ext uri="{FF2B5EF4-FFF2-40B4-BE49-F238E27FC236}">
                <a16:creationId xmlns:a16="http://schemas.microsoft.com/office/drawing/2014/main" id="{D13943EA-11E3-49CA-A819-36F8C0634435}"/>
              </a:ext>
            </a:extLst>
          </p:cNvPr>
          <p:cNvSpPr/>
          <p:nvPr/>
        </p:nvSpPr>
        <p:spPr>
          <a:xfrm>
            <a:off x="736600" y="1511300"/>
            <a:ext cx="10718800" cy="1524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NAV_BOX_7_0">
            <a:extLst>
              <a:ext uri="{FF2B5EF4-FFF2-40B4-BE49-F238E27FC236}">
                <a16:creationId xmlns:a16="http://schemas.microsoft.com/office/drawing/2014/main" id="{BAF6BB17-8F65-4B55-A584-DFBF7DA3D466}"/>
              </a:ext>
            </a:extLst>
          </p:cNvPr>
          <p:cNvSpPr/>
          <p:nvPr/>
        </p:nvSpPr>
        <p:spPr>
          <a:xfrm>
            <a:off x="7366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문제 설정</a:t>
            </a:r>
          </a:p>
        </p:txBody>
      </p:sp>
      <p:sp>
        <p:nvSpPr>
          <p:cNvPr id="12" name="NAV_BOX_7_1">
            <a:extLst>
              <a:ext uri="{FF2B5EF4-FFF2-40B4-BE49-F238E27FC236}">
                <a16:creationId xmlns:a16="http://schemas.microsoft.com/office/drawing/2014/main" id="{C74124FF-D971-4387-B51D-FE87D35DDBDB}"/>
              </a:ext>
            </a:extLst>
          </p:cNvPr>
          <p:cNvSpPr/>
          <p:nvPr/>
        </p:nvSpPr>
        <p:spPr>
          <a:xfrm>
            <a:off x="18288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데이터 수집</a:t>
            </a:r>
          </a:p>
        </p:txBody>
      </p:sp>
      <p:sp>
        <p:nvSpPr>
          <p:cNvPr id="14" name="NAV_BOX_7_2">
            <a:extLst>
              <a:ext uri="{FF2B5EF4-FFF2-40B4-BE49-F238E27FC236}">
                <a16:creationId xmlns:a16="http://schemas.microsoft.com/office/drawing/2014/main" id="{05FC71CF-C420-45D1-A89C-0DEC2F0E219D}"/>
              </a:ext>
            </a:extLst>
          </p:cNvPr>
          <p:cNvSpPr/>
          <p:nvPr/>
        </p:nvSpPr>
        <p:spPr>
          <a:xfrm>
            <a:off x="2921000" y="254000"/>
            <a:ext cx="965200" cy="2794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 b="1">
                <a:solidFill>
                  <a:srgbClr val="FFFFFF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5" name="NAV_BOX_7_3">
            <a:extLst>
              <a:ext uri="{FF2B5EF4-FFF2-40B4-BE49-F238E27FC236}">
                <a16:creationId xmlns:a16="http://schemas.microsoft.com/office/drawing/2014/main" id="{B52AF8E0-B7A0-47A1-817E-44A5DE964892}"/>
              </a:ext>
            </a:extLst>
          </p:cNvPr>
          <p:cNvSpPr/>
          <p:nvPr/>
        </p:nvSpPr>
        <p:spPr>
          <a:xfrm>
            <a:off x="40132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16" name="BP_FOOTER_LINE_7">
            <a:extLst>
              <a:ext uri="{FF2B5EF4-FFF2-40B4-BE49-F238E27FC236}">
                <a16:creationId xmlns:a16="http://schemas.microsoft.com/office/drawing/2014/main" id="{443A1EC7-CA9C-40A3-983F-D552236413F6}"/>
              </a:ext>
            </a:extLst>
          </p:cNvPr>
          <p:cNvSpPr/>
          <p:nvPr/>
        </p:nvSpPr>
        <p:spPr>
          <a:xfrm>
            <a:off x="736600" y="6451600"/>
            <a:ext cx="10718800" cy="1524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BP_FOOTER_TEXT_7">
            <a:extLst>
              <a:ext uri="{FF2B5EF4-FFF2-40B4-BE49-F238E27FC236}">
                <a16:creationId xmlns:a16="http://schemas.microsoft.com/office/drawing/2014/main" id="{12B0718F-1785-4059-81F5-F647EFF9B1E7}"/>
              </a:ext>
            </a:extLst>
          </p:cNvPr>
          <p:cNvSpPr txBox="1"/>
          <p:nvPr/>
        </p:nvSpPr>
        <p:spPr>
          <a:xfrm>
            <a:off x="736600" y="65278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 fontScale="85000" lnSpcReduction="20000"/>
          </a:bodyPr>
          <a:lstStyle/>
          <a:p>
            <a:pPr algn="l"/>
            <a:r>
              <a:rPr lang="ko-KR" altLang="en-US" sz="850">
                <a:solidFill>
                  <a:srgbClr val="7A8699"/>
                </a:solidFill>
                <a:latin typeface="맑은 고딕"/>
                <a:ea typeface="맑은 고딕"/>
              </a:rPr>
              <a:t>송파구 행정동별 복지 수요 분석</a:t>
            </a:r>
          </a:p>
        </p:txBody>
      </p:sp>
      <p:sp>
        <p:nvSpPr>
          <p:cNvPr id="18" name="BP_PAGE_7">
            <a:extLst>
              <a:ext uri="{FF2B5EF4-FFF2-40B4-BE49-F238E27FC236}">
                <a16:creationId xmlns:a16="http://schemas.microsoft.com/office/drawing/2014/main" id="{1B63A0AB-83F1-4AE6-876B-9E48CBB36398}"/>
              </a:ext>
            </a:extLst>
          </p:cNvPr>
          <p:cNvSpPr txBox="1"/>
          <p:nvPr/>
        </p:nvSpPr>
        <p:spPr>
          <a:xfrm>
            <a:off x="11049000" y="65024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 fontScale="92500" lnSpcReduction="10000"/>
          </a:bodyPr>
          <a:lstStyle/>
          <a:p>
            <a:pPr algn="r"/>
            <a:r>
              <a:rPr lang="ko-KR" sz="900" b="1" dirty="0"/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79993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BB8DCA-2CC4-4DF4-A812-0C396E297E84}"/>
              </a:ext>
            </a:extLst>
          </p:cNvPr>
          <p:cNvSpPr txBox="1"/>
          <p:nvPr/>
        </p:nvSpPr>
        <p:spPr>
          <a:xfrm>
            <a:off x="965200" y="660400"/>
            <a:ext cx="104902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ko-KR" altLang="en-US" sz="2400" b="1">
                <a:solidFill>
                  <a:srgbClr val="172A46"/>
                </a:solidFill>
                <a:latin typeface="맑은 고딕"/>
                <a:ea typeface="맑은 고딕"/>
              </a:rPr>
              <a:t>모든 지표를 백분위로 변환해 동일 가중치로 합산했다</a:t>
            </a:r>
            <a:endParaRPr lang="ko-KR" altLang="en-US" sz="2400" b="1" dirty="0">
              <a:solidFill>
                <a:srgbClr val="172A46"/>
              </a:solidFill>
              <a:latin typeface="맑은 고딕"/>
              <a:ea typeface="맑은 고딕"/>
            </a:endParaRPr>
          </a:p>
        </p:txBody>
      </p:sp>
      <p:sp>
        <p:nvSpPr>
          <p:cNvPr id="5" name="BP_TOP_7">
            <a:extLst>
              <a:ext uri="{FF2B5EF4-FFF2-40B4-BE49-F238E27FC236}">
                <a16:creationId xmlns:a16="http://schemas.microsoft.com/office/drawing/2014/main" id="{42973D25-2F27-4345-8167-048513A4333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72A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BP_TITLE_ACCENT_7">
            <a:extLst>
              <a:ext uri="{FF2B5EF4-FFF2-40B4-BE49-F238E27FC236}">
                <a16:creationId xmlns:a16="http://schemas.microsoft.com/office/drawing/2014/main" id="{187A9A78-0D40-4B16-9D57-B7058EACA538}"/>
              </a:ext>
            </a:extLst>
          </p:cNvPr>
          <p:cNvSpPr/>
          <p:nvPr/>
        </p:nvSpPr>
        <p:spPr>
          <a:xfrm>
            <a:off x="736600" y="736600"/>
            <a:ext cx="63500" cy="5461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BP_TITLE_RULE_7">
            <a:extLst>
              <a:ext uri="{FF2B5EF4-FFF2-40B4-BE49-F238E27FC236}">
                <a16:creationId xmlns:a16="http://schemas.microsoft.com/office/drawing/2014/main" id="{D13943EA-11E3-49CA-A819-36F8C0634435}"/>
              </a:ext>
            </a:extLst>
          </p:cNvPr>
          <p:cNvSpPr/>
          <p:nvPr/>
        </p:nvSpPr>
        <p:spPr>
          <a:xfrm>
            <a:off x="736600" y="1511300"/>
            <a:ext cx="10718800" cy="1524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NAV_BOX_7_0">
            <a:extLst>
              <a:ext uri="{FF2B5EF4-FFF2-40B4-BE49-F238E27FC236}">
                <a16:creationId xmlns:a16="http://schemas.microsoft.com/office/drawing/2014/main" id="{BAF6BB17-8F65-4B55-A584-DFBF7DA3D466}"/>
              </a:ext>
            </a:extLst>
          </p:cNvPr>
          <p:cNvSpPr/>
          <p:nvPr/>
        </p:nvSpPr>
        <p:spPr>
          <a:xfrm>
            <a:off x="7366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문제 설정</a:t>
            </a:r>
          </a:p>
        </p:txBody>
      </p:sp>
      <p:sp>
        <p:nvSpPr>
          <p:cNvPr id="12" name="NAV_BOX_7_1">
            <a:extLst>
              <a:ext uri="{FF2B5EF4-FFF2-40B4-BE49-F238E27FC236}">
                <a16:creationId xmlns:a16="http://schemas.microsoft.com/office/drawing/2014/main" id="{C74124FF-D971-4387-B51D-FE87D35DDBDB}"/>
              </a:ext>
            </a:extLst>
          </p:cNvPr>
          <p:cNvSpPr/>
          <p:nvPr/>
        </p:nvSpPr>
        <p:spPr>
          <a:xfrm>
            <a:off x="18288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데이터 수집</a:t>
            </a:r>
          </a:p>
        </p:txBody>
      </p:sp>
      <p:sp>
        <p:nvSpPr>
          <p:cNvPr id="14" name="NAV_BOX_7_2">
            <a:extLst>
              <a:ext uri="{FF2B5EF4-FFF2-40B4-BE49-F238E27FC236}">
                <a16:creationId xmlns:a16="http://schemas.microsoft.com/office/drawing/2014/main" id="{05FC71CF-C420-45D1-A89C-0DEC2F0E219D}"/>
              </a:ext>
            </a:extLst>
          </p:cNvPr>
          <p:cNvSpPr/>
          <p:nvPr/>
        </p:nvSpPr>
        <p:spPr>
          <a:xfrm>
            <a:off x="2921000" y="254000"/>
            <a:ext cx="965200" cy="2794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 b="1">
                <a:solidFill>
                  <a:srgbClr val="FFFFFF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5" name="NAV_BOX_7_3">
            <a:extLst>
              <a:ext uri="{FF2B5EF4-FFF2-40B4-BE49-F238E27FC236}">
                <a16:creationId xmlns:a16="http://schemas.microsoft.com/office/drawing/2014/main" id="{B52AF8E0-B7A0-47A1-817E-44A5DE964892}"/>
              </a:ext>
            </a:extLst>
          </p:cNvPr>
          <p:cNvSpPr/>
          <p:nvPr/>
        </p:nvSpPr>
        <p:spPr>
          <a:xfrm>
            <a:off x="40132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16" name="BP_FOOTER_LINE_7">
            <a:extLst>
              <a:ext uri="{FF2B5EF4-FFF2-40B4-BE49-F238E27FC236}">
                <a16:creationId xmlns:a16="http://schemas.microsoft.com/office/drawing/2014/main" id="{443A1EC7-CA9C-40A3-983F-D552236413F6}"/>
              </a:ext>
            </a:extLst>
          </p:cNvPr>
          <p:cNvSpPr/>
          <p:nvPr/>
        </p:nvSpPr>
        <p:spPr>
          <a:xfrm>
            <a:off x="736600" y="6451600"/>
            <a:ext cx="10718800" cy="1524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BP_FOOTER_TEXT_7">
            <a:extLst>
              <a:ext uri="{FF2B5EF4-FFF2-40B4-BE49-F238E27FC236}">
                <a16:creationId xmlns:a16="http://schemas.microsoft.com/office/drawing/2014/main" id="{12B0718F-1785-4059-81F5-F647EFF9B1E7}"/>
              </a:ext>
            </a:extLst>
          </p:cNvPr>
          <p:cNvSpPr txBox="1"/>
          <p:nvPr/>
        </p:nvSpPr>
        <p:spPr>
          <a:xfrm>
            <a:off x="736600" y="65278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 fontScale="85000" lnSpcReduction="20000"/>
          </a:bodyPr>
          <a:lstStyle/>
          <a:p>
            <a:pPr algn="l"/>
            <a:r>
              <a:rPr lang="ko-KR" altLang="en-US" sz="850">
                <a:solidFill>
                  <a:srgbClr val="7A8699"/>
                </a:solidFill>
                <a:latin typeface="맑은 고딕"/>
                <a:ea typeface="맑은 고딕"/>
              </a:rPr>
              <a:t>송파구 행정동별 복지 수요 분석</a:t>
            </a:r>
          </a:p>
        </p:txBody>
      </p:sp>
      <p:sp>
        <p:nvSpPr>
          <p:cNvPr id="18" name="BP_PAGE_7">
            <a:extLst>
              <a:ext uri="{FF2B5EF4-FFF2-40B4-BE49-F238E27FC236}">
                <a16:creationId xmlns:a16="http://schemas.microsoft.com/office/drawing/2014/main" id="{1B63A0AB-83F1-4AE6-876B-9E48CBB36398}"/>
              </a:ext>
            </a:extLst>
          </p:cNvPr>
          <p:cNvSpPr txBox="1"/>
          <p:nvPr/>
        </p:nvSpPr>
        <p:spPr>
          <a:xfrm>
            <a:off x="11049000" y="65024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 fontScale="92500" lnSpcReduction="10000"/>
          </a:bodyPr>
          <a:lstStyle/>
          <a:p>
            <a:pPr algn="r"/>
            <a:r>
              <a:rPr lang="ko-KR" sz="900" b="1" dirty="0"/>
              <a:t>09</a:t>
            </a:r>
          </a:p>
        </p:txBody>
      </p:sp>
      <p:sp>
        <p:nvSpPr>
          <p:cNvPr id="3" name="METHOD_STEP_0">
            <a:extLst>
              <a:ext uri="{FF2B5EF4-FFF2-40B4-BE49-F238E27FC236}">
                <a16:creationId xmlns:a16="http://schemas.microsoft.com/office/drawing/2014/main" id="{4F5A1042-A2E0-4EB0-8DE1-BB9716038B36}"/>
              </a:ext>
            </a:extLst>
          </p:cNvPr>
          <p:cNvSpPr/>
          <p:nvPr/>
        </p:nvSpPr>
        <p:spPr>
          <a:xfrm>
            <a:off x="736600" y="1841500"/>
            <a:ext cx="2476500" cy="1117600"/>
          </a:xfrm>
          <a:prstGeom prst="rect">
            <a:avLst/>
          </a:prstGeom>
          <a:solidFill>
            <a:srgbClr val="EAF1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ko-KR" sz="1250" b="1">
                <a:solidFill>
                  <a:srgbClr val="26364D"/>
                </a:solidFill>
                <a:latin typeface="맑은 고딕"/>
                <a:ea typeface="맑은 고딕"/>
              </a:rPr>
              <a:t>1  </a:t>
            </a:r>
            <a:r>
              <a:rPr lang="ko-KR" altLang="en-US" sz="1250" b="1">
                <a:solidFill>
                  <a:srgbClr val="26364D"/>
                </a:solidFill>
                <a:latin typeface="맑은 고딕"/>
                <a:ea typeface="맑은 고딕"/>
              </a:rPr>
              <a:t>백분위 변환
</a:t>
            </a:r>
            <a:r>
              <a:rPr lang="en-US" altLang="ko-KR" sz="1250" b="1">
                <a:solidFill>
                  <a:srgbClr val="26364D"/>
                </a:solidFill>
                <a:latin typeface="맑은 고딕"/>
                <a:ea typeface="맑은 고딕"/>
              </a:rPr>
              <a:t>27</a:t>
            </a:r>
            <a:r>
              <a:rPr lang="ko-KR" altLang="en-US" sz="1250" b="1">
                <a:solidFill>
                  <a:srgbClr val="26364D"/>
                </a:solidFill>
                <a:latin typeface="맑은 고딕"/>
                <a:ea typeface="맑은 고딕"/>
              </a:rPr>
              <a:t>개 행정동 내 순위를
</a:t>
            </a:r>
            <a:r>
              <a:rPr lang="en-US" altLang="ko-KR" sz="1250" b="1">
                <a:solidFill>
                  <a:srgbClr val="26364D"/>
                </a:solidFill>
                <a:latin typeface="맑은 고딕"/>
                <a:ea typeface="맑은 고딕"/>
              </a:rPr>
              <a:t>0~100</a:t>
            </a:r>
            <a:r>
              <a:rPr lang="ko-KR" altLang="en-US" sz="1250" b="1">
                <a:solidFill>
                  <a:srgbClr val="26364D"/>
                </a:solidFill>
                <a:latin typeface="맑은 고딕"/>
                <a:ea typeface="맑은 고딕"/>
              </a:rPr>
              <a:t>점으로 변환</a:t>
            </a:r>
          </a:p>
        </p:txBody>
      </p:sp>
      <p:sp>
        <p:nvSpPr>
          <p:cNvPr id="4" name="METHOD_STEP_1">
            <a:extLst>
              <a:ext uri="{FF2B5EF4-FFF2-40B4-BE49-F238E27FC236}">
                <a16:creationId xmlns:a16="http://schemas.microsoft.com/office/drawing/2014/main" id="{D17847BB-89D1-47C4-936D-0A861672F20B}"/>
              </a:ext>
            </a:extLst>
          </p:cNvPr>
          <p:cNvSpPr/>
          <p:nvPr/>
        </p:nvSpPr>
        <p:spPr>
          <a:xfrm>
            <a:off x="3441700" y="1841500"/>
            <a:ext cx="2476500" cy="1117600"/>
          </a:xfrm>
          <a:prstGeom prst="rect">
            <a:avLst/>
          </a:prstGeom>
          <a:solidFill>
            <a:srgbClr val="EAF1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ko-KR" sz="1250">
                <a:solidFill>
                  <a:srgbClr val="26364D"/>
                </a:solidFill>
                <a:latin typeface="맑은 고딕"/>
                <a:ea typeface="맑은 고딕"/>
              </a:rPr>
              <a:t>2  </a:t>
            </a:r>
            <a:r>
              <a:rPr lang="ko-KR" altLang="en-US" sz="1250">
                <a:solidFill>
                  <a:srgbClr val="26364D"/>
                </a:solidFill>
                <a:latin typeface="맑은 고딕"/>
                <a:ea typeface="맑은 고딕"/>
              </a:rPr>
              <a:t>척도 통일
비율</a:t>
            </a:r>
            <a:r>
              <a:rPr lang="en-US" altLang="ko-KR" sz="1250">
                <a:solidFill>
                  <a:srgbClr val="26364D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50">
                <a:solidFill>
                  <a:srgbClr val="26364D"/>
                </a:solidFill>
                <a:latin typeface="맑은 고딕"/>
                <a:ea typeface="맑은 고딕"/>
              </a:rPr>
              <a:t>인구</a:t>
            </a:r>
            <a:r>
              <a:rPr lang="en-US" altLang="ko-KR" sz="1250">
                <a:solidFill>
                  <a:srgbClr val="26364D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50">
                <a:solidFill>
                  <a:srgbClr val="26364D"/>
                </a:solidFill>
                <a:latin typeface="맑은 고딕"/>
                <a:ea typeface="맑은 고딕"/>
              </a:rPr>
              <a:t>세대원 수를
동일 척도로 비교</a:t>
            </a:r>
          </a:p>
        </p:txBody>
      </p:sp>
      <p:sp>
        <p:nvSpPr>
          <p:cNvPr id="19" name="METHOD_STEP_2">
            <a:extLst>
              <a:ext uri="{FF2B5EF4-FFF2-40B4-BE49-F238E27FC236}">
                <a16:creationId xmlns:a16="http://schemas.microsoft.com/office/drawing/2014/main" id="{95A77147-9D4C-4512-827E-0C84F93FCB0B}"/>
              </a:ext>
            </a:extLst>
          </p:cNvPr>
          <p:cNvSpPr/>
          <p:nvPr/>
        </p:nvSpPr>
        <p:spPr>
          <a:xfrm>
            <a:off x="6146800" y="1841500"/>
            <a:ext cx="2476500" cy="1117600"/>
          </a:xfrm>
          <a:prstGeom prst="rect">
            <a:avLst/>
          </a:prstGeom>
          <a:solidFill>
            <a:srgbClr val="EAF1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ko-KR" sz="1250">
                <a:solidFill>
                  <a:srgbClr val="26364D"/>
                </a:solidFill>
                <a:latin typeface="맑은 고딕"/>
                <a:ea typeface="맑은 고딕"/>
              </a:rPr>
              <a:t>3  </a:t>
            </a:r>
            <a:r>
              <a:rPr lang="ko-KR" altLang="en-US" sz="1250">
                <a:solidFill>
                  <a:srgbClr val="26364D"/>
                </a:solidFill>
                <a:latin typeface="맑은 고딕"/>
                <a:ea typeface="맑은 고딕"/>
              </a:rPr>
              <a:t>동일 가중치
별도 근거가 없어
지표별 점수를 단순 평균</a:t>
            </a:r>
          </a:p>
        </p:txBody>
      </p:sp>
      <p:sp>
        <p:nvSpPr>
          <p:cNvPr id="20" name="METHOD_STEP_3">
            <a:extLst>
              <a:ext uri="{FF2B5EF4-FFF2-40B4-BE49-F238E27FC236}">
                <a16:creationId xmlns:a16="http://schemas.microsoft.com/office/drawing/2014/main" id="{7D38B900-1ADC-4878-A59E-537E964F912F}"/>
              </a:ext>
            </a:extLst>
          </p:cNvPr>
          <p:cNvSpPr/>
          <p:nvPr/>
        </p:nvSpPr>
        <p:spPr>
          <a:xfrm>
            <a:off x="8851900" y="1841500"/>
            <a:ext cx="2476500" cy="1117600"/>
          </a:xfrm>
          <a:prstGeom prst="rect">
            <a:avLst/>
          </a:prstGeom>
          <a:solidFill>
            <a:srgbClr val="DDEF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ko-KR" sz="1250" b="1">
                <a:solidFill>
                  <a:srgbClr val="26364D"/>
                </a:solidFill>
                <a:latin typeface="맑은 고딕"/>
                <a:ea typeface="맑은 고딕"/>
              </a:rPr>
              <a:t>4  </a:t>
            </a:r>
            <a:r>
              <a:rPr lang="ko-KR" altLang="en-US" sz="1250" b="1">
                <a:solidFill>
                  <a:srgbClr val="26364D"/>
                </a:solidFill>
                <a:latin typeface="맑은 고딕"/>
                <a:ea typeface="맑은 고딕"/>
              </a:rPr>
              <a:t>수요 해석
점수가 높을수록 잠재 수요가
상대적으로 높은 지역</a:t>
            </a:r>
          </a:p>
        </p:txBody>
      </p:sp>
      <p:sp>
        <p:nvSpPr>
          <p:cNvPr id="21" name="FORMULA_LABEL">
            <a:extLst>
              <a:ext uri="{FF2B5EF4-FFF2-40B4-BE49-F238E27FC236}">
                <a16:creationId xmlns:a16="http://schemas.microsoft.com/office/drawing/2014/main" id="{0A9F9566-9E5F-490C-A033-E40F9E62B47A}"/>
              </a:ext>
            </a:extLst>
          </p:cNvPr>
          <p:cNvSpPr txBox="1"/>
          <p:nvPr/>
        </p:nvSpPr>
        <p:spPr>
          <a:xfrm>
            <a:off x="736600" y="3238500"/>
            <a:ext cx="3175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ko-KR" altLang="en-US" sz="1400" b="1">
                <a:solidFill>
                  <a:srgbClr val="1F7A8C"/>
                </a:solidFill>
                <a:latin typeface="맑은 고딕"/>
                <a:ea typeface="맑은 고딕"/>
              </a:rPr>
              <a:t>수요 유형별 산식</a:t>
            </a:r>
          </a:p>
        </p:txBody>
      </p:sp>
      <p:sp>
        <p:nvSpPr>
          <p:cNvPr id="22" name="FORMULA_CARD_0">
            <a:extLst>
              <a:ext uri="{FF2B5EF4-FFF2-40B4-BE49-F238E27FC236}">
                <a16:creationId xmlns:a16="http://schemas.microsoft.com/office/drawing/2014/main" id="{C30E8EB4-10CC-43EB-AA58-CE48B39BEAFE}"/>
              </a:ext>
            </a:extLst>
          </p:cNvPr>
          <p:cNvSpPr/>
          <p:nvPr/>
        </p:nvSpPr>
        <p:spPr>
          <a:xfrm>
            <a:off x="736600" y="3683000"/>
            <a:ext cx="3378200" cy="2159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3E8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FORMULA_HEAD_0">
            <a:extLst>
              <a:ext uri="{FF2B5EF4-FFF2-40B4-BE49-F238E27FC236}">
                <a16:creationId xmlns:a16="http://schemas.microsoft.com/office/drawing/2014/main" id="{934DEF6E-82D8-4746-86CA-D562E22A1339}"/>
              </a:ext>
            </a:extLst>
          </p:cNvPr>
          <p:cNvSpPr txBox="1"/>
          <p:nvPr/>
        </p:nvSpPr>
        <p:spPr>
          <a:xfrm>
            <a:off x="939800" y="3873500"/>
            <a:ext cx="29718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ko-KR" altLang="en-US" sz="1500" b="1">
                <a:solidFill>
                  <a:srgbClr val="172A46"/>
                </a:solidFill>
                <a:latin typeface="맑은 고딕"/>
                <a:ea typeface="맑은 고딕"/>
              </a:rPr>
              <a:t>청년 소가구</a:t>
            </a:r>
          </a:p>
        </p:txBody>
      </p:sp>
      <p:sp>
        <p:nvSpPr>
          <p:cNvPr id="24" name="FORMULA_BODY_0">
            <a:extLst>
              <a:ext uri="{FF2B5EF4-FFF2-40B4-BE49-F238E27FC236}">
                <a16:creationId xmlns:a16="http://schemas.microsoft.com/office/drawing/2014/main" id="{A35207A0-8852-49A8-BE97-E7B764B08FB2}"/>
              </a:ext>
            </a:extLst>
          </p:cNvPr>
          <p:cNvSpPr txBox="1"/>
          <p:nvPr/>
        </p:nvSpPr>
        <p:spPr>
          <a:xfrm>
            <a:off x="939800" y="4343400"/>
            <a:ext cx="2971800" cy="1092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altLang="ko-KR" sz="1300">
                <a:solidFill>
                  <a:srgbClr val="26364D"/>
                </a:solidFill>
                <a:latin typeface="맑은 고딕"/>
                <a:ea typeface="맑은 고딕"/>
              </a:rPr>
              <a:t>20~39</a:t>
            </a:r>
            <a:r>
              <a:rPr lang="ko-KR" altLang="en-US" sz="1300">
                <a:solidFill>
                  <a:srgbClr val="26364D"/>
                </a:solidFill>
                <a:latin typeface="맑은 고딕"/>
                <a:ea typeface="맑은 고딕"/>
              </a:rPr>
              <a:t>세 비율 </a:t>
            </a:r>
            <a:r>
              <a:rPr lang="en-US" altLang="ko-KR" sz="1300">
                <a:solidFill>
                  <a:srgbClr val="26364D"/>
                </a:solidFill>
                <a:latin typeface="맑은 고딕"/>
                <a:ea typeface="맑은 고딕"/>
              </a:rPr>
              <a:t>+ 20~39</a:t>
            </a:r>
            <a:r>
              <a:rPr lang="ko-KR" altLang="en-US" sz="1300">
                <a:solidFill>
                  <a:srgbClr val="26364D"/>
                </a:solidFill>
                <a:latin typeface="맑은 고딕"/>
                <a:ea typeface="맑은 고딕"/>
              </a:rPr>
              <a:t>세 인구 </a:t>
            </a:r>
            <a:r>
              <a:rPr lang="en-US" altLang="ko-KR" sz="1300">
                <a:solidFill>
                  <a:srgbClr val="26364D"/>
                </a:solidFill>
                <a:latin typeface="맑은 고딕"/>
                <a:ea typeface="맑은 고딕"/>
              </a:rPr>
              <a:t>+ </a:t>
            </a:r>
            <a:r>
              <a:rPr lang="ko-KR" altLang="en-US" sz="1300">
                <a:solidFill>
                  <a:srgbClr val="26364D"/>
                </a:solidFill>
                <a:latin typeface="맑은 고딕"/>
                <a:ea typeface="맑은 고딕"/>
              </a:rPr>
              <a:t>낮은 세대당 인구</a:t>
            </a:r>
          </a:p>
        </p:txBody>
      </p:sp>
      <p:sp>
        <p:nvSpPr>
          <p:cNvPr id="25" name="FORMULA_ACCENT_0">
            <a:extLst>
              <a:ext uri="{FF2B5EF4-FFF2-40B4-BE49-F238E27FC236}">
                <a16:creationId xmlns:a16="http://schemas.microsoft.com/office/drawing/2014/main" id="{42E2FB5A-A709-49B2-9D31-71A02EDE66C5}"/>
              </a:ext>
            </a:extLst>
          </p:cNvPr>
          <p:cNvSpPr/>
          <p:nvPr/>
        </p:nvSpPr>
        <p:spPr>
          <a:xfrm>
            <a:off x="736600" y="3683000"/>
            <a:ext cx="76200" cy="21590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FORMULA_CARD_1">
            <a:extLst>
              <a:ext uri="{FF2B5EF4-FFF2-40B4-BE49-F238E27FC236}">
                <a16:creationId xmlns:a16="http://schemas.microsoft.com/office/drawing/2014/main" id="{40EBBA12-1116-4837-91F2-0425A384B5EA}"/>
              </a:ext>
            </a:extLst>
          </p:cNvPr>
          <p:cNvSpPr/>
          <p:nvPr/>
        </p:nvSpPr>
        <p:spPr>
          <a:xfrm>
            <a:off x="4343400" y="3683000"/>
            <a:ext cx="3378200" cy="2159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3E8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FORMULA_HEAD_1">
            <a:extLst>
              <a:ext uri="{FF2B5EF4-FFF2-40B4-BE49-F238E27FC236}">
                <a16:creationId xmlns:a16="http://schemas.microsoft.com/office/drawing/2014/main" id="{EADB7192-1EFF-4B59-8435-67B715B52ABB}"/>
              </a:ext>
            </a:extLst>
          </p:cNvPr>
          <p:cNvSpPr txBox="1"/>
          <p:nvPr/>
        </p:nvSpPr>
        <p:spPr>
          <a:xfrm>
            <a:off x="4546600" y="3873500"/>
            <a:ext cx="29718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ko-KR" altLang="en-US" sz="1500" b="1">
                <a:solidFill>
                  <a:srgbClr val="172A46"/>
                </a:solidFill>
                <a:latin typeface="맑은 고딕"/>
                <a:ea typeface="맑은 고딕"/>
              </a:rPr>
              <a:t>학령기 가족</a:t>
            </a:r>
          </a:p>
        </p:txBody>
      </p:sp>
      <p:sp>
        <p:nvSpPr>
          <p:cNvPr id="28" name="FORMULA_BODY_1">
            <a:extLst>
              <a:ext uri="{FF2B5EF4-FFF2-40B4-BE49-F238E27FC236}">
                <a16:creationId xmlns:a16="http://schemas.microsoft.com/office/drawing/2014/main" id="{09C78C05-9514-4543-9388-813C42713038}"/>
              </a:ext>
            </a:extLst>
          </p:cNvPr>
          <p:cNvSpPr txBox="1"/>
          <p:nvPr/>
        </p:nvSpPr>
        <p:spPr>
          <a:xfrm>
            <a:off x="4546600" y="4343400"/>
            <a:ext cx="2971800" cy="1092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altLang="ko-KR" sz="1300">
                <a:solidFill>
                  <a:srgbClr val="26364D"/>
                </a:solidFill>
                <a:latin typeface="맑은 고딕"/>
                <a:ea typeface="맑은 고딕"/>
              </a:rPr>
              <a:t>10~19</a:t>
            </a:r>
            <a:r>
              <a:rPr lang="ko-KR" altLang="en-US" sz="1300">
                <a:solidFill>
                  <a:srgbClr val="26364D"/>
                </a:solidFill>
                <a:latin typeface="맑은 고딕"/>
                <a:ea typeface="맑은 고딕"/>
              </a:rPr>
              <a:t>세 비율 </a:t>
            </a:r>
            <a:r>
              <a:rPr lang="en-US" altLang="ko-KR" sz="1300">
                <a:solidFill>
                  <a:srgbClr val="26364D"/>
                </a:solidFill>
                <a:latin typeface="맑은 고딕"/>
                <a:ea typeface="맑은 고딕"/>
              </a:rPr>
              <a:t>+ 40~49</a:t>
            </a:r>
            <a:r>
              <a:rPr lang="ko-KR" altLang="en-US" sz="1300">
                <a:solidFill>
                  <a:srgbClr val="26364D"/>
                </a:solidFill>
                <a:latin typeface="맑은 고딕"/>
                <a:ea typeface="맑은 고딕"/>
              </a:rPr>
              <a:t>세 비율 </a:t>
            </a:r>
            <a:r>
              <a:rPr lang="en-US" altLang="ko-KR" sz="1300">
                <a:solidFill>
                  <a:srgbClr val="26364D"/>
                </a:solidFill>
                <a:latin typeface="맑은 고딕"/>
                <a:ea typeface="맑은 고딕"/>
              </a:rPr>
              <a:t>+ </a:t>
            </a:r>
            <a:r>
              <a:rPr lang="ko-KR" altLang="en-US" sz="1300">
                <a:solidFill>
                  <a:srgbClr val="26364D"/>
                </a:solidFill>
                <a:latin typeface="맑은 고딕"/>
                <a:ea typeface="맑은 고딕"/>
              </a:rPr>
              <a:t>관련 인구 </a:t>
            </a:r>
            <a:r>
              <a:rPr lang="en-US" altLang="ko-KR" sz="1300">
                <a:solidFill>
                  <a:srgbClr val="26364D"/>
                </a:solidFill>
                <a:latin typeface="맑은 고딕"/>
                <a:ea typeface="맑은 고딕"/>
              </a:rPr>
              <a:t>+ </a:t>
            </a:r>
            <a:r>
              <a:rPr lang="ko-KR" altLang="en-US" sz="1300">
                <a:solidFill>
                  <a:srgbClr val="26364D"/>
                </a:solidFill>
                <a:latin typeface="맑은 고딕"/>
                <a:ea typeface="맑은 고딕"/>
              </a:rPr>
              <a:t>높은 세대당 인구</a:t>
            </a:r>
          </a:p>
        </p:txBody>
      </p:sp>
      <p:sp>
        <p:nvSpPr>
          <p:cNvPr id="29" name="FORMULA_ACCENT_1">
            <a:extLst>
              <a:ext uri="{FF2B5EF4-FFF2-40B4-BE49-F238E27FC236}">
                <a16:creationId xmlns:a16="http://schemas.microsoft.com/office/drawing/2014/main" id="{E9BB5838-A57E-4323-8B76-1A5561412555}"/>
              </a:ext>
            </a:extLst>
          </p:cNvPr>
          <p:cNvSpPr/>
          <p:nvPr/>
        </p:nvSpPr>
        <p:spPr>
          <a:xfrm>
            <a:off x="4343400" y="3683000"/>
            <a:ext cx="76200" cy="21590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FORMULA_CARD_2">
            <a:extLst>
              <a:ext uri="{FF2B5EF4-FFF2-40B4-BE49-F238E27FC236}">
                <a16:creationId xmlns:a16="http://schemas.microsoft.com/office/drawing/2014/main" id="{5587762E-72B8-4E1D-B2E8-63C67A01C6D8}"/>
              </a:ext>
            </a:extLst>
          </p:cNvPr>
          <p:cNvSpPr/>
          <p:nvPr/>
        </p:nvSpPr>
        <p:spPr>
          <a:xfrm>
            <a:off x="7950200" y="3683000"/>
            <a:ext cx="3378200" cy="2159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3E8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FORMULA_HEAD_2">
            <a:extLst>
              <a:ext uri="{FF2B5EF4-FFF2-40B4-BE49-F238E27FC236}">
                <a16:creationId xmlns:a16="http://schemas.microsoft.com/office/drawing/2014/main" id="{4D659E0C-CD02-4B8E-A58A-6E950893CB66}"/>
              </a:ext>
            </a:extLst>
          </p:cNvPr>
          <p:cNvSpPr txBox="1"/>
          <p:nvPr/>
        </p:nvSpPr>
        <p:spPr>
          <a:xfrm>
            <a:off x="8153400" y="3873500"/>
            <a:ext cx="29718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ko-KR" altLang="en-US" sz="1500" b="1">
                <a:solidFill>
                  <a:srgbClr val="172A46"/>
                </a:solidFill>
                <a:latin typeface="맑은 고딕"/>
                <a:ea typeface="맑은 고딕"/>
              </a:rPr>
              <a:t>고령층</a:t>
            </a:r>
          </a:p>
        </p:txBody>
      </p:sp>
      <p:sp>
        <p:nvSpPr>
          <p:cNvPr id="32" name="FORMULA_BODY_2">
            <a:extLst>
              <a:ext uri="{FF2B5EF4-FFF2-40B4-BE49-F238E27FC236}">
                <a16:creationId xmlns:a16="http://schemas.microsoft.com/office/drawing/2014/main" id="{EBF7D2FA-29AC-493D-A69D-541795D0D19F}"/>
              </a:ext>
            </a:extLst>
          </p:cNvPr>
          <p:cNvSpPr txBox="1"/>
          <p:nvPr/>
        </p:nvSpPr>
        <p:spPr>
          <a:xfrm>
            <a:off x="8153400" y="4343400"/>
            <a:ext cx="2971800" cy="1092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altLang="ko-KR" sz="1300">
                <a:solidFill>
                  <a:srgbClr val="26364D"/>
                </a:solidFill>
                <a:latin typeface="맑은 고딕"/>
                <a:ea typeface="맑은 고딕"/>
              </a:rPr>
              <a:t>70</a:t>
            </a:r>
            <a:r>
              <a:rPr lang="ko-KR" altLang="en-US" sz="1300">
                <a:solidFill>
                  <a:srgbClr val="26364D"/>
                </a:solidFill>
                <a:latin typeface="맑은 고딕"/>
                <a:ea typeface="맑은 고딕"/>
              </a:rPr>
              <a:t>세 이상 비율 </a:t>
            </a:r>
            <a:r>
              <a:rPr lang="en-US" altLang="ko-KR" sz="1300">
                <a:solidFill>
                  <a:srgbClr val="26364D"/>
                </a:solidFill>
                <a:latin typeface="맑은 고딕"/>
                <a:ea typeface="맑은 고딕"/>
              </a:rPr>
              <a:t>+ 70</a:t>
            </a:r>
            <a:r>
              <a:rPr lang="ko-KR" altLang="en-US" sz="1300">
                <a:solidFill>
                  <a:srgbClr val="26364D"/>
                </a:solidFill>
                <a:latin typeface="맑은 고딕"/>
                <a:ea typeface="맑은 고딕"/>
              </a:rPr>
              <a:t>세 이상 실제 인구</a:t>
            </a:r>
          </a:p>
        </p:txBody>
      </p:sp>
      <p:sp>
        <p:nvSpPr>
          <p:cNvPr id="33" name="FORMULA_ACCENT_2">
            <a:extLst>
              <a:ext uri="{FF2B5EF4-FFF2-40B4-BE49-F238E27FC236}">
                <a16:creationId xmlns:a16="http://schemas.microsoft.com/office/drawing/2014/main" id="{426F529E-E889-428E-982C-485543F170C6}"/>
              </a:ext>
            </a:extLst>
          </p:cNvPr>
          <p:cNvSpPr/>
          <p:nvPr/>
        </p:nvSpPr>
        <p:spPr>
          <a:xfrm>
            <a:off x="7950200" y="3683000"/>
            <a:ext cx="76200" cy="21590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709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9B66CF-5BF2-7CA2-5E70-5A948BDA2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660400"/>
            <a:ext cx="10490200" cy="736600"/>
          </a:xfrm>
        </p:spPr>
        <p:txBody>
          <a:bodyPr wrap="square" anchor="ctr" anchorCtr="0">
            <a:normAutofit/>
          </a:bodyPr>
          <a:lstStyle/>
          <a:p>
            <a:r>
              <a:rPr lang="ko-KR" altLang="en-US" sz="2400" b="1">
                <a:solidFill>
                  <a:srgbClr val="172A46"/>
                </a:solidFill>
                <a:latin typeface="맑은 고딕"/>
                <a:ea typeface="맑은 고딕"/>
              </a:rPr>
              <a:t>수요 유형별 우선 지역이 뚜렷하게 구분된다</a:t>
            </a:r>
            <a:endParaRPr lang="ko-KR" sz="2400" b="1" dirty="0">
              <a:solidFill>
                <a:srgbClr val="172A46"/>
              </a:solidFill>
              <a:latin typeface="맑은 고딕"/>
              <a:ea typeface="맑은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DED4153-2C73-518B-7BC3-4AD37817C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778000"/>
            <a:ext cx="8229600" cy="2921000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263813F-A8DD-5B2B-958B-27DC963B6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4978400"/>
            <a:ext cx="10490200" cy="1295400"/>
          </a:xfrm>
          <a:solidFill>
            <a:srgbClr val="EAF1F7"/>
          </a:solidFill>
          <a:ln>
            <a:noFill/>
          </a:ln>
        </p:spPr>
        <p:txBody>
          <a:bodyPr wrap="square" anchor="t" anchorCtr="0">
            <a:normAutofit/>
          </a:bodyPr>
          <a:lstStyle/>
          <a:p>
            <a:pPr marL="342900" indent="-285750">
              <a:buChar char="•"/>
            </a:pP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청년 소가구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: 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방이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2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동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문정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2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동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잠실본동
학령기 가족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: 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잠실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2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동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위례동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잠실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4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동
고령층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: 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마천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2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동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오금동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거여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2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동</a:t>
            </a:r>
            <a:endParaRPr lang="ko-KR" sz="1450" dirty="0">
              <a:solidFill>
                <a:srgbClr val="26364D"/>
              </a:solidFill>
              <a:latin typeface="맑은 고딕"/>
              <a:ea typeface="맑은 고딕"/>
            </a:endParaRPr>
          </a:p>
        </p:txBody>
      </p:sp>
      <p:sp>
        <p:nvSpPr>
          <p:cNvPr id="7" name="BP_TOP_8">
            <a:extLst>
              <a:ext uri="{FF2B5EF4-FFF2-40B4-BE49-F238E27FC236}">
                <a16:creationId xmlns:a16="http://schemas.microsoft.com/office/drawing/2014/main" id="{D5D4BE0D-E931-45A4-9A32-D0A59421EE3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72A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BP_TITLE_ACCENT_8">
            <a:extLst>
              <a:ext uri="{FF2B5EF4-FFF2-40B4-BE49-F238E27FC236}">
                <a16:creationId xmlns:a16="http://schemas.microsoft.com/office/drawing/2014/main" id="{B4E1836E-74F1-4E55-9FF8-FCDD06077456}"/>
              </a:ext>
            </a:extLst>
          </p:cNvPr>
          <p:cNvSpPr/>
          <p:nvPr/>
        </p:nvSpPr>
        <p:spPr>
          <a:xfrm>
            <a:off x="736600" y="736600"/>
            <a:ext cx="63500" cy="5461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BP_TITLE_RULE_8">
            <a:extLst>
              <a:ext uri="{FF2B5EF4-FFF2-40B4-BE49-F238E27FC236}">
                <a16:creationId xmlns:a16="http://schemas.microsoft.com/office/drawing/2014/main" id="{B48DAC42-D248-4F26-9C30-9DEE92D40747}"/>
              </a:ext>
            </a:extLst>
          </p:cNvPr>
          <p:cNvSpPr/>
          <p:nvPr/>
        </p:nvSpPr>
        <p:spPr>
          <a:xfrm>
            <a:off x="736600" y="1511300"/>
            <a:ext cx="10718800" cy="1524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NAV_BOX_8_0">
            <a:extLst>
              <a:ext uri="{FF2B5EF4-FFF2-40B4-BE49-F238E27FC236}">
                <a16:creationId xmlns:a16="http://schemas.microsoft.com/office/drawing/2014/main" id="{7594937E-F043-4E24-B4E7-358E8B0AA73A}"/>
              </a:ext>
            </a:extLst>
          </p:cNvPr>
          <p:cNvSpPr/>
          <p:nvPr/>
        </p:nvSpPr>
        <p:spPr>
          <a:xfrm>
            <a:off x="7366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문제 설정</a:t>
            </a:r>
          </a:p>
        </p:txBody>
      </p:sp>
      <p:sp>
        <p:nvSpPr>
          <p:cNvPr id="11" name="NAV_BOX_8_1">
            <a:extLst>
              <a:ext uri="{FF2B5EF4-FFF2-40B4-BE49-F238E27FC236}">
                <a16:creationId xmlns:a16="http://schemas.microsoft.com/office/drawing/2014/main" id="{A7439CD4-8BC0-404B-85C0-338903CEBD28}"/>
              </a:ext>
            </a:extLst>
          </p:cNvPr>
          <p:cNvSpPr/>
          <p:nvPr/>
        </p:nvSpPr>
        <p:spPr>
          <a:xfrm>
            <a:off x="18288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데이터 수집</a:t>
            </a:r>
          </a:p>
        </p:txBody>
      </p:sp>
      <p:sp>
        <p:nvSpPr>
          <p:cNvPr id="12" name="NAV_BOX_8_2">
            <a:extLst>
              <a:ext uri="{FF2B5EF4-FFF2-40B4-BE49-F238E27FC236}">
                <a16:creationId xmlns:a16="http://schemas.microsoft.com/office/drawing/2014/main" id="{8D1B1BB5-365F-49CF-9D0B-8C58162B3493}"/>
              </a:ext>
            </a:extLst>
          </p:cNvPr>
          <p:cNvSpPr/>
          <p:nvPr/>
        </p:nvSpPr>
        <p:spPr>
          <a:xfrm>
            <a:off x="2921000" y="254000"/>
            <a:ext cx="965200" cy="2794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 b="1">
                <a:solidFill>
                  <a:srgbClr val="FFFFFF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3" name="NAV_BOX_8_3">
            <a:extLst>
              <a:ext uri="{FF2B5EF4-FFF2-40B4-BE49-F238E27FC236}">
                <a16:creationId xmlns:a16="http://schemas.microsoft.com/office/drawing/2014/main" id="{0B88CDAE-E40F-4676-980D-62EFE7861DF0}"/>
              </a:ext>
            </a:extLst>
          </p:cNvPr>
          <p:cNvSpPr/>
          <p:nvPr/>
        </p:nvSpPr>
        <p:spPr>
          <a:xfrm>
            <a:off x="40132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14" name="BP_FOOTER_LINE_8">
            <a:extLst>
              <a:ext uri="{FF2B5EF4-FFF2-40B4-BE49-F238E27FC236}">
                <a16:creationId xmlns:a16="http://schemas.microsoft.com/office/drawing/2014/main" id="{FEA8C452-13B2-4533-B8FC-DC9977361FC7}"/>
              </a:ext>
            </a:extLst>
          </p:cNvPr>
          <p:cNvSpPr/>
          <p:nvPr/>
        </p:nvSpPr>
        <p:spPr>
          <a:xfrm>
            <a:off x="736600" y="6451600"/>
            <a:ext cx="10718800" cy="1524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BP_FOOTER_TEXT_8">
            <a:extLst>
              <a:ext uri="{FF2B5EF4-FFF2-40B4-BE49-F238E27FC236}">
                <a16:creationId xmlns:a16="http://schemas.microsoft.com/office/drawing/2014/main" id="{45D2E410-6806-462F-9A18-56E21D78497A}"/>
              </a:ext>
            </a:extLst>
          </p:cNvPr>
          <p:cNvSpPr txBox="1"/>
          <p:nvPr/>
        </p:nvSpPr>
        <p:spPr>
          <a:xfrm>
            <a:off x="736600" y="65278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 fontScale="85000" lnSpcReduction="20000"/>
          </a:bodyPr>
          <a:lstStyle/>
          <a:p>
            <a:pPr algn="l"/>
            <a:r>
              <a:rPr lang="ko-KR" altLang="en-US" sz="850">
                <a:solidFill>
                  <a:srgbClr val="7A8699"/>
                </a:solidFill>
                <a:latin typeface="맑은 고딕"/>
                <a:ea typeface="맑은 고딕"/>
              </a:rPr>
              <a:t>송파구 행정동별 복지 수요 분석</a:t>
            </a:r>
          </a:p>
        </p:txBody>
      </p:sp>
      <p:sp>
        <p:nvSpPr>
          <p:cNvPr id="16" name="BP_PAGE_8">
            <a:extLst>
              <a:ext uri="{FF2B5EF4-FFF2-40B4-BE49-F238E27FC236}">
                <a16:creationId xmlns:a16="http://schemas.microsoft.com/office/drawing/2014/main" id="{3C6DD063-7320-4295-AD24-1E678B7F2F7F}"/>
              </a:ext>
            </a:extLst>
          </p:cNvPr>
          <p:cNvSpPr txBox="1"/>
          <p:nvPr/>
        </p:nvSpPr>
        <p:spPr>
          <a:xfrm>
            <a:off x="11049000" y="65024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 fontScale="92500" lnSpcReduction="10000"/>
          </a:bodyPr>
          <a:lstStyle/>
          <a:p>
            <a:pPr algn="r"/>
            <a:r>
              <a:rPr lang="ko-KR" sz="900" b="1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91898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DB85D0-681B-1341-5854-263986195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660400"/>
            <a:ext cx="10490200" cy="736600"/>
          </a:xfrm>
        </p:spPr>
        <p:txBody>
          <a:bodyPr wrap="square" anchor="ctr" anchorCtr="0">
            <a:normAutofit/>
          </a:bodyPr>
          <a:lstStyle/>
          <a:p>
            <a:r>
              <a:rPr lang="ko-KR" altLang="en-US" sz="2400" b="1">
                <a:solidFill>
                  <a:srgbClr val="172A46"/>
                </a:solidFill>
                <a:latin typeface="맑은 고딕"/>
                <a:ea typeface="맑은 고딕"/>
              </a:rPr>
              <a:t>복합 수요 지역에는 단일 시설보다 통합형 복지 거점이 적합하다</a:t>
            </a:r>
            <a:endParaRPr lang="ko-KR" sz="2400" b="1" dirty="0">
              <a:solidFill>
                <a:srgbClr val="172A46"/>
              </a:solidFill>
              <a:latin typeface="맑은 고딕"/>
              <a:ea typeface="맑은 고딕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67E4F1-9002-457F-72B2-5AE2AA82E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0" y="1803400"/>
            <a:ext cx="4216400" cy="4495800"/>
          </a:xfrm>
          <a:solidFill>
            <a:srgbClr val="EAF1F7"/>
          </a:solidFill>
          <a:ln>
            <a:noFill/>
          </a:ln>
        </p:spPr>
        <p:txBody>
          <a:bodyPr wrap="square" anchor="t" anchorCtr="0">
            <a:normAutofit/>
          </a:bodyPr>
          <a:lstStyle/>
          <a:p>
            <a:pPr marL="342900" indent="-285750">
              <a:buChar char="•"/>
            </a:pP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장지동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풍납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2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동은 세 유형의 수요가 고르게 나타나는 종합 지원 후보지다
잠실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3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동은 학령기 가족과 고령층 수요가 동시에 높다
단일 유형 상위 지역은 특화시설</a:t>
            </a:r>
            <a:r>
              <a:rPr lang="en-US" altLang="ko-KR" sz="1450">
                <a:solidFill>
                  <a:srgbClr val="26364D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50">
                <a:solidFill>
                  <a:srgbClr val="26364D"/>
                </a:solidFill>
                <a:latin typeface="맑은 고딕"/>
                <a:ea typeface="맑은 고딕"/>
              </a:rPr>
              <a:t>복합 수요 지역은 통합형 거점이 적합하다
최종 우선순위는 기존 시설 공급량과 접근성을 함께 고려해 확정해야 한다</a:t>
            </a:r>
            <a:endParaRPr lang="ko-KR" sz="1450" dirty="0">
              <a:solidFill>
                <a:srgbClr val="26364D"/>
              </a:solidFill>
              <a:latin typeface="맑은 고딕"/>
              <a:ea typeface="맑은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E4F9D1-F59E-FDC4-C8F1-0234BF58D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803400"/>
            <a:ext cx="6223000" cy="4495800"/>
          </a:xfrm>
          <a:prstGeom prst="rect">
            <a:avLst/>
          </a:prstGeom>
        </p:spPr>
      </p:pic>
      <p:sp>
        <p:nvSpPr>
          <p:cNvPr id="7" name="BP_TOP_9">
            <a:extLst>
              <a:ext uri="{FF2B5EF4-FFF2-40B4-BE49-F238E27FC236}">
                <a16:creationId xmlns:a16="http://schemas.microsoft.com/office/drawing/2014/main" id="{1E3E48EB-9FD6-4A5F-8BFE-2BA991F97E8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72A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BP_TITLE_ACCENT_9">
            <a:extLst>
              <a:ext uri="{FF2B5EF4-FFF2-40B4-BE49-F238E27FC236}">
                <a16:creationId xmlns:a16="http://schemas.microsoft.com/office/drawing/2014/main" id="{A85D6E6F-DC44-4CA1-A4FC-9A2EE41627CD}"/>
              </a:ext>
            </a:extLst>
          </p:cNvPr>
          <p:cNvSpPr/>
          <p:nvPr/>
        </p:nvSpPr>
        <p:spPr>
          <a:xfrm>
            <a:off x="736600" y="736600"/>
            <a:ext cx="63500" cy="5461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BP_TITLE_RULE_9">
            <a:extLst>
              <a:ext uri="{FF2B5EF4-FFF2-40B4-BE49-F238E27FC236}">
                <a16:creationId xmlns:a16="http://schemas.microsoft.com/office/drawing/2014/main" id="{AE850A33-8610-425F-BB9F-4B90750EB258}"/>
              </a:ext>
            </a:extLst>
          </p:cNvPr>
          <p:cNvSpPr/>
          <p:nvPr/>
        </p:nvSpPr>
        <p:spPr>
          <a:xfrm>
            <a:off x="736600" y="1511300"/>
            <a:ext cx="10718800" cy="1524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NAV_BOX_9_0">
            <a:extLst>
              <a:ext uri="{FF2B5EF4-FFF2-40B4-BE49-F238E27FC236}">
                <a16:creationId xmlns:a16="http://schemas.microsoft.com/office/drawing/2014/main" id="{2A4CB5A5-C510-4DFF-BE66-749CA2307916}"/>
              </a:ext>
            </a:extLst>
          </p:cNvPr>
          <p:cNvSpPr/>
          <p:nvPr/>
        </p:nvSpPr>
        <p:spPr>
          <a:xfrm>
            <a:off x="7366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문제 설정</a:t>
            </a:r>
          </a:p>
        </p:txBody>
      </p:sp>
      <p:sp>
        <p:nvSpPr>
          <p:cNvPr id="11" name="NAV_BOX_9_1">
            <a:extLst>
              <a:ext uri="{FF2B5EF4-FFF2-40B4-BE49-F238E27FC236}">
                <a16:creationId xmlns:a16="http://schemas.microsoft.com/office/drawing/2014/main" id="{7C00BD10-F3DF-4CCF-8548-887E855C83C7}"/>
              </a:ext>
            </a:extLst>
          </p:cNvPr>
          <p:cNvSpPr/>
          <p:nvPr/>
        </p:nvSpPr>
        <p:spPr>
          <a:xfrm>
            <a:off x="18288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데이터 수집</a:t>
            </a:r>
          </a:p>
        </p:txBody>
      </p:sp>
      <p:sp>
        <p:nvSpPr>
          <p:cNvPr id="12" name="NAV_BOX_9_2">
            <a:extLst>
              <a:ext uri="{FF2B5EF4-FFF2-40B4-BE49-F238E27FC236}">
                <a16:creationId xmlns:a16="http://schemas.microsoft.com/office/drawing/2014/main" id="{04253E89-79C5-468E-9735-E64E7788545D}"/>
              </a:ext>
            </a:extLst>
          </p:cNvPr>
          <p:cNvSpPr/>
          <p:nvPr/>
        </p:nvSpPr>
        <p:spPr>
          <a:xfrm>
            <a:off x="2921000" y="254000"/>
            <a:ext cx="965200" cy="2794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 b="1">
                <a:solidFill>
                  <a:srgbClr val="FFFFFF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3" name="NAV_BOX_9_3">
            <a:extLst>
              <a:ext uri="{FF2B5EF4-FFF2-40B4-BE49-F238E27FC236}">
                <a16:creationId xmlns:a16="http://schemas.microsoft.com/office/drawing/2014/main" id="{0632D357-C7A5-4167-9F27-FAE77E7C0B80}"/>
              </a:ext>
            </a:extLst>
          </p:cNvPr>
          <p:cNvSpPr/>
          <p:nvPr/>
        </p:nvSpPr>
        <p:spPr>
          <a:xfrm>
            <a:off x="40132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14" name="BP_FOOTER_LINE_9">
            <a:extLst>
              <a:ext uri="{FF2B5EF4-FFF2-40B4-BE49-F238E27FC236}">
                <a16:creationId xmlns:a16="http://schemas.microsoft.com/office/drawing/2014/main" id="{89A489F1-F89A-46FA-97A9-FB59FA11382C}"/>
              </a:ext>
            </a:extLst>
          </p:cNvPr>
          <p:cNvSpPr/>
          <p:nvPr/>
        </p:nvSpPr>
        <p:spPr>
          <a:xfrm>
            <a:off x="736600" y="6451600"/>
            <a:ext cx="10718800" cy="1524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BP_FOOTER_TEXT_9">
            <a:extLst>
              <a:ext uri="{FF2B5EF4-FFF2-40B4-BE49-F238E27FC236}">
                <a16:creationId xmlns:a16="http://schemas.microsoft.com/office/drawing/2014/main" id="{8360C935-FB88-4B3A-8709-C403808CF6CB}"/>
              </a:ext>
            </a:extLst>
          </p:cNvPr>
          <p:cNvSpPr txBox="1"/>
          <p:nvPr/>
        </p:nvSpPr>
        <p:spPr>
          <a:xfrm>
            <a:off x="736600" y="65278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 fontScale="85000" lnSpcReduction="20000"/>
          </a:bodyPr>
          <a:lstStyle/>
          <a:p>
            <a:pPr algn="l"/>
            <a:r>
              <a:rPr lang="ko-KR" altLang="en-US" sz="850">
                <a:solidFill>
                  <a:srgbClr val="7A8699"/>
                </a:solidFill>
                <a:latin typeface="맑은 고딕"/>
                <a:ea typeface="맑은 고딕"/>
              </a:rPr>
              <a:t>송파구 행정동별 복지 수요 분석</a:t>
            </a:r>
          </a:p>
        </p:txBody>
      </p:sp>
      <p:sp>
        <p:nvSpPr>
          <p:cNvPr id="16" name="BP_PAGE_9">
            <a:extLst>
              <a:ext uri="{FF2B5EF4-FFF2-40B4-BE49-F238E27FC236}">
                <a16:creationId xmlns:a16="http://schemas.microsoft.com/office/drawing/2014/main" id="{C67196C1-34FC-42CA-90A7-175F18ACB9EC}"/>
              </a:ext>
            </a:extLst>
          </p:cNvPr>
          <p:cNvSpPr txBox="1"/>
          <p:nvPr/>
        </p:nvSpPr>
        <p:spPr>
          <a:xfrm>
            <a:off x="11049000" y="65024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 fontScale="92500" lnSpcReduction="10000"/>
          </a:bodyPr>
          <a:lstStyle/>
          <a:p>
            <a:pPr algn="r"/>
            <a:r>
              <a:rPr lang="ko-KR" sz="900" b="1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103673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5E3B3C-FD37-0531-2082-C74F63023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660400"/>
            <a:ext cx="10490200" cy="736600"/>
          </a:xfrm>
        </p:spPr>
        <p:txBody>
          <a:bodyPr wrap="square" anchor="ctr" anchorCtr="0">
            <a:normAutofit/>
          </a:bodyPr>
          <a:lstStyle/>
          <a:p>
            <a:r>
              <a:rPr lang="ko-KR" altLang="en-US" sz="2400" b="1" dirty="0">
                <a:solidFill>
                  <a:srgbClr val="172A46"/>
                </a:solidFill>
                <a:latin typeface="맑은 고딕"/>
                <a:ea typeface="맑은 고딕"/>
              </a:rPr>
              <a:t>기존 시설 공급량을 결합해 투자 우선순위를 확정</a:t>
            </a:r>
            <a:endParaRPr lang="ko-KR" sz="2400" b="1" dirty="0">
              <a:solidFill>
                <a:srgbClr val="172A46"/>
              </a:solidFill>
              <a:latin typeface="맑은 고딕"/>
              <a:ea typeface="맑은 고딕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2E7F4F-A5D9-91B3-BC40-09BF06735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1905000"/>
            <a:ext cx="10490200" cy="3111500"/>
          </a:xfrm>
          <a:solidFill>
            <a:srgbClr val="DDEFF2"/>
          </a:solidFill>
          <a:ln>
            <a:noFill/>
          </a:ln>
        </p:spPr>
        <p:txBody>
          <a:bodyPr wrap="square" anchor="t" anchorCtr="0">
            <a:normAutofit/>
          </a:bodyPr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6364D"/>
                </a:solidFill>
                <a:latin typeface="맑은 고딕"/>
                <a:ea typeface="맑은 고딕"/>
              </a:rPr>
              <a:t>현재까지</a:t>
            </a:r>
            <a:endParaRPr lang="en-US" altLang="ko-KR" sz="1500" b="1" dirty="0">
              <a:solidFill>
                <a:srgbClr val="26364D"/>
              </a:solidFill>
              <a:latin typeface="맑은 고딕"/>
              <a:ea typeface="맑은 고딕"/>
            </a:endParaRPr>
          </a:p>
          <a:p>
            <a:r>
              <a:rPr lang="ko-KR" altLang="en-US" sz="1500" b="1" dirty="0">
                <a:solidFill>
                  <a:srgbClr val="26364D"/>
                </a:solidFill>
                <a:latin typeface="맑은 고딕"/>
                <a:ea typeface="맑은 고딕"/>
              </a:rPr>
              <a:t>행정동별 인구</a:t>
            </a:r>
            <a:r>
              <a:rPr lang="en-US" altLang="ko-KR" sz="1500" b="1" dirty="0">
                <a:solidFill>
                  <a:srgbClr val="26364D"/>
                </a:solidFill>
                <a:latin typeface="맑은 고딕"/>
                <a:ea typeface="맑은 고딕"/>
              </a:rPr>
              <a:t>, </a:t>
            </a:r>
            <a:r>
              <a:rPr lang="ko-KR" altLang="en-US" sz="1500" b="1" dirty="0">
                <a:solidFill>
                  <a:srgbClr val="26364D"/>
                </a:solidFill>
                <a:latin typeface="맑은 고딕"/>
                <a:ea typeface="맑은 고딕"/>
              </a:rPr>
              <a:t>연령</a:t>
            </a:r>
            <a:r>
              <a:rPr lang="en-US" altLang="ko-KR" sz="1500" b="1" dirty="0">
                <a:solidFill>
                  <a:srgbClr val="26364D"/>
                </a:solidFill>
                <a:latin typeface="맑은 고딕"/>
                <a:ea typeface="맑은 고딕"/>
              </a:rPr>
              <a:t>, </a:t>
            </a:r>
            <a:r>
              <a:rPr lang="ko-KR" altLang="en-US" sz="1500" b="1" dirty="0">
                <a:solidFill>
                  <a:srgbClr val="26364D"/>
                </a:solidFill>
                <a:latin typeface="맑은 고딕"/>
                <a:ea typeface="맑은 고딕"/>
              </a:rPr>
              <a:t>가구</a:t>
            </a:r>
            <a:r>
              <a:rPr lang="en-US" altLang="ko-KR" sz="1500" b="1" dirty="0">
                <a:solidFill>
                  <a:srgbClr val="26364D"/>
                </a:solidFill>
                <a:latin typeface="맑은 고딕"/>
                <a:ea typeface="맑은 고딕"/>
              </a:rPr>
              <a:t> </a:t>
            </a:r>
            <a:r>
              <a:rPr lang="ko-KR" altLang="en-US" sz="1500" b="1" dirty="0">
                <a:solidFill>
                  <a:srgbClr val="26364D"/>
                </a:solidFill>
                <a:latin typeface="맑은 고딕"/>
                <a:ea typeface="맑은 고딕"/>
              </a:rPr>
              <a:t>구조를 기반으로 잠재 복지수요 점수를 산출</a:t>
            </a:r>
            <a:endParaRPr lang="en-US" altLang="ko-KR" sz="1500" b="1" dirty="0">
              <a:solidFill>
                <a:srgbClr val="26364D"/>
              </a:solidFill>
              <a:latin typeface="맑은 고딕"/>
              <a:ea typeface="맑은 고딕"/>
            </a:endParaRPr>
          </a:p>
          <a:p>
            <a:r>
              <a:rPr lang="ko-KR" altLang="en-US" sz="1500" b="1" dirty="0" err="1">
                <a:solidFill>
                  <a:srgbClr val="26364D"/>
                </a:solidFill>
                <a:latin typeface="맑은 고딕"/>
                <a:ea typeface="맑은 고딕"/>
              </a:rPr>
              <a:t>청년소가구</a:t>
            </a:r>
            <a:r>
              <a:rPr lang="ko-KR" altLang="en-US" sz="1500" b="1" dirty="0">
                <a:solidFill>
                  <a:srgbClr val="26364D"/>
                </a:solidFill>
                <a:latin typeface="맑은 고딕"/>
                <a:ea typeface="맑은 고딕"/>
              </a:rPr>
              <a:t> </a:t>
            </a:r>
            <a:r>
              <a:rPr lang="en-US" altLang="ko-KR" sz="1500" b="1" dirty="0">
                <a:solidFill>
                  <a:srgbClr val="26364D"/>
                </a:solidFill>
                <a:latin typeface="맑은 고딕"/>
                <a:ea typeface="맑은 고딕"/>
              </a:rPr>
              <a:t>/ </a:t>
            </a:r>
            <a:r>
              <a:rPr lang="ko-KR" altLang="en-US" sz="1500" b="1" dirty="0" err="1">
                <a:solidFill>
                  <a:srgbClr val="26364D"/>
                </a:solidFill>
                <a:latin typeface="맑은 고딕"/>
                <a:ea typeface="맑은 고딕"/>
              </a:rPr>
              <a:t>학령기</a:t>
            </a:r>
            <a:r>
              <a:rPr lang="ko-KR" altLang="en-US" sz="1500" b="1" dirty="0">
                <a:solidFill>
                  <a:srgbClr val="26364D"/>
                </a:solidFill>
                <a:latin typeface="맑은 고딕"/>
                <a:ea typeface="맑은 고딕"/>
              </a:rPr>
              <a:t> 가족</a:t>
            </a:r>
            <a:r>
              <a:rPr lang="en-US" altLang="ko-KR" sz="1500" b="1" dirty="0">
                <a:solidFill>
                  <a:srgbClr val="26364D"/>
                </a:solidFill>
                <a:latin typeface="맑은 고딕"/>
                <a:ea typeface="맑은 고딕"/>
              </a:rPr>
              <a:t> / </a:t>
            </a:r>
            <a:r>
              <a:rPr lang="ko-KR" altLang="en-US" sz="1500" b="1" dirty="0">
                <a:solidFill>
                  <a:srgbClr val="26364D"/>
                </a:solidFill>
                <a:latin typeface="맑은 고딕"/>
                <a:ea typeface="맑은 고딕"/>
              </a:rPr>
              <a:t>고령층 유형별 우선지역을 도출</a:t>
            </a:r>
            <a:endParaRPr lang="en-US" altLang="ko-KR" sz="1500" b="1" dirty="0">
              <a:solidFill>
                <a:srgbClr val="26364D"/>
              </a:solidFill>
              <a:latin typeface="맑은 고딕"/>
              <a:ea typeface="맑은 고딕"/>
            </a:endParaRPr>
          </a:p>
          <a:p>
            <a:endParaRPr lang="en-US" altLang="ko-KR" sz="1500" b="1" dirty="0">
              <a:solidFill>
                <a:srgbClr val="26364D"/>
              </a:solidFill>
              <a:latin typeface="맑은 고딕"/>
              <a:ea typeface="맑은 고딕"/>
            </a:endParaRPr>
          </a:p>
          <a:p>
            <a:pPr marL="0" indent="0">
              <a:buNone/>
            </a:pPr>
            <a:r>
              <a:rPr lang="ko-KR" altLang="en-US" sz="1500" b="1" dirty="0">
                <a:solidFill>
                  <a:srgbClr val="26364D"/>
                </a:solidFill>
                <a:latin typeface="맑은 고딕"/>
                <a:ea typeface="맑은 고딕"/>
              </a:rPr>
              <a:t>향후 추가 분석</a:t>
            </a:r>
            <a:endParaRPr lang="en-US" altLang="ko-KR" sz="1500" b="1" dirty="0">
              <a:solidFill>
                <a:srgbClr val="26364D"/>
              </a:solidFill>
              <a:latin typeface="맑은 고딕"/>
              <a:ea typeface="맑은 고딕"/>
            </a:endParaRPr>
          </a:p>
          <a:p>
            <a:r>
              <a:rPr lang="ko-KR" altLang="en-US" sz="1500" b="1" dirty="0">
                <a:solidFill>
                  <a:srgbClr val="26364D"/>
                </a:solidFill>
                <a:latin typeface="맑은 고딕"/>
                <a:ea typeface="맑은 고딕"/>
              </a:rPr>
              <a:t>행정동별 복지시설 수와 시설 유형 데이터를 추가 수집</a:t>
            </a:r>
            <a:endParaRPr lang="en-US" altLang="ko-KR" sz="1500" b="1" dirty="0">
              <a:solidFill>
                <a:srgbClr val="26364D"/>
              </a:solidFill>
              <a:latin typeface="맑은 고딕"/>
              <a:ea typeface="맑은 고딕"/>
            </a:endParaRPr>
          </a:p>
          <a:p>
            <a:r>
              <a:rPr lang="ko-KR" altLang="en-US" sz="1500" b="1" dirty="0">
                <a:solidFill>
                  <a:srgbClr val="26364D"/>
                </a:solidFill>
                <a:latin typeface="맑은 고딕"/>
                <a:ea typeface="맑은 고딕"/>
              </a:rPr>
              <a:t>면적당 시설 수</a:t>
            </a:r>
            <a:r>
              <a:rPr lang="en-US" altLang="ko-KR" sz="1500" b="1" dirty="0">
                <a:solidFill>
                  <a:srgbClr val="26364D"/>
                </a:solidFill>
                <a:latin typeface="맑은 고딕"/>
                <a:ea typeface="맑은 고딕"/>
              </a:rPr>
              <a:t>, </a:t>
            </a:r>
            <a:r>
              <a:rPr lang="ko-KR" altLang="en-US" sz="1500" b="1" dirty="0">
                <a:solidFill>
                  <a:srgbClr val="26364D"/>
                </a:solidFill>
                <a:latin typeface="맑은 고딕"/>
                <a:ea typeface="맑은 고딕"/>
              </a:rPr>
              <a:t>대상인구당 시설 수를 통해 현재 복지 인프라 수준을 정량화</a:t>
            </a:r>
            <a:endParaRPr lang="en-US" altLang="ko-KR" sz="1500" b="1" dirty="0">
              <a:solidFill>
                <a:srgbClr val="26364D"/>
              </a:solidFill>
              <a:latin typeface="맑은 고딕"/>
              <a:ea typeface="맑은 고딕"/>
            </a:endParaRPr>
          </a:p>
          <a:p>
            <a:r>
              <a:rPr lang="ko-KR" altLang="en-US" sz="1500" b="1" dirty="0">
                <a:solidFill>
                  <a:srgbClr val="26364D"/>
                </a:solidFill>
                <a:latin typeface="맑은 고딕"/>
                <a:ea typeface="맑은 고딕"/>
              </a:rPr>
              <a:t>잠재 수요 점수와 시설 공급 수준을 비교해 수요</a:t>
            </a:r>
            <a:r>
              <a:rPr lang="en-US" altLang="ko-KR" sz="1500" b="1" dirty="0">
                <a:solidFill>
                  <a:srgbClr val="26364D"/>
                </a:solidFill>
                <a:latin typeface="맑은 고딕"/>
                <a:ea typeface="맑은 고딕"/>
              </a:rPr>
              <a:t>-</a:t>
            </a:r>
            <a:r>
              <a:rPr lang="ko-KR" altLang="en-US" sz="1500" b="1" dirty="0">
                <a:solidFill>
                  <a:srgbClr val="26364D"/>
                </a:solidFill>
                <a:latin typeface="맑은 고딕"/>
                <a:ea typeface="맑은 고딕"/>
              </a:rPr>
              <a:t>공급 </a:t>
            </a:r>
            <a:r>
              <a:rPr lang="en-US" altLang="ko-KR" sz="1500" b="1" dirty="0">
                <a:solidFill>
                  <a:srgbClr val="26364D"/>
                </a:solidFill>
                <a:latin typeface="맑은 고딕"/>
                <a:ea typeface="맑은 고딕"/>
              </a:rPr>
              <a:t>Gap </a:t>
            </a:r>
            <a:r>
              <a:rPr lang="ko-KR" altLang="en-US" sz="1500" b="1" dirty="0">
                <a:solidFill>
                  <a:srgbClr val="26364D"/>
                </a:solidFill>
                <a:latin typeface="맑은 고딕"/>
                <a:ea typeface="맑은 고딕"/>
              </a:rPr>
              <a:t>산출</a:t>
            </a:r>
            <a:endParaRPr lang="en-US" altLang="ko-KR" sz="1500" b="1" dirty="0">
              <a:solidFill>
                <a:srgbClr val="26364D"/>
              </a:solidFill>
              <a:latin typeface="맑은 고딕"/>
              <a:ea typeface="맑은 고딕"/>
            </a:endParaRPr>
          </a:p>
          <a:p>
            <a:r>
              <a:rPr lang="ko-KR" altLang="en-US" sz="1500" b="1" dirty="0">
                <a:solidFill>
                  <a:srgbClr val="26364D"/>
                </a:solidFill>
                <a:latin typeface="맑은 고딕"/>
                <a:ea typeface="맑은 고딕"/>
              </a:rPr>
              <a:t>산출된 결과를 바탕으로 시설 투자 우선순위를 제안</a:t>
            </a:r>
            <a:endParaRPr lang="ko-KR" sz="1500" b="1" dirty="0">
              <a:solidFill>
                <a:srgbClr val="26364D"/>
              </a:solidFill>
              <a:latin typeface="맑은 고딕"/>
              <a:ea typeface="맑은 고딕"/>
            </a:endParaRPr>
          </a:p>
        </p:txBody>
      </p:sp>
      <p:sp>
        <p:nvSpPr>
          <p:cNvPr id="6" name="BP_TOP_10">
            <a:extLst>
              <a:ext uri="{FF2B5EF4-FFF2-40B4-BE49-F238E27FC236}">
                <a16:creationId xmlns:a16="http://schemas.microsoft.com/office/drawing/2014/main" id="{76528AEA-769D-466F-99DA-C7040F6144AB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72A4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BP_TITLE_ACCENT_10">
            <a:extLst>
              <a:ext uri="{FF2B5EF4-FFF2-40B4-BE49-F238E27FC236}">
                <a16:creationId xmlns:a16="http://schemas.microsoft.com/office/drawing/2014/main" id="{D2292986-04BA-4C80-B4E2-BB86473895AB}"/>
              </a:ext>
            </a:extLst>
          </p:cNvPr>
          <p:cNvSpPr/>
          <p:nvPr/>
        </p:nvSpPr>
        <p:spPr>
          <a:xfrm>
            <a:off x="736600" y="736600"/>
            <a:ext cx="63500" cy="5461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BP_TITLE_RULE_10">
            <a:extLst>
              <a:ext uri="{FF2B5EF4-FFF2-40B4-BE49-F238E27FC236}">
                <a16:creationId xmlns:a16="http://schemas.microsoft.com/office/drawing/2014/main" id="{6B3E6594-9642-45D5-8FAA-13D5EB0DDCDE}"/>
              </a:ext>
            </a:extLst>
          </p:cNvPr>
          <p:cNvSpPr/>
          <p:nvPr/>
        </p:nvSpPr>
        <p:spPr>
          <a:xfrm>
            <a:off x="736600" y="1511300"/>
            <a:ext cx="10718800" cy="1524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NAV_BOX_10_0">
            <a:extLst>
              <a:ext uri="{FF2B5EF4-FFF2-40B4-BE49-F238E27FC236}">
                <a16:creationId xmlns:a16="http://schemas.microsoft.com/office/drawing/2014/main" id="{1F5C2443-B65B-4833-976E-C535ECB47106}"/>
              </a:ext>
            </a:extLst>
          </p:cNvPr>
          <p:cNvSpPr/>
          <p:nvPr/>
        </p:nvSpPr>
        <p:spPr>
          <a:xfrm>
            <a:off x="7366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문제 설정</a:t>
            </a:r>
          </a:p>
        </p:txBody>
      </p:sp>
      <p:sp>
        <p:nvSpPr>
          <p:cNvPr id="10" name="NAV_BOX_10_1">
            <a:extLst>
              <a:ext uri="{FF2B5EF4-FFF2-40B4-BE49-F238E27FC236}">
                <a16:creationId xmlns:a16="http://schemas.microsoft.com/office/drawing/2014/main" id="{3843CD7E-D512-4C58-B117-3DFC5778E1FF}"/>
              </a:ext>
            </a:extLst>
          </p:cNvPr>
          <p:cNvSpPr/>
          <p:nvPr/>
        </p:nvSpPr>
        <p:spPr>
          <a:xfrm>
            <a:off x="18288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데이터 수집</a:t>
            </a:r>
          </a:p>
        </p:txBody>
      </p:sp>
      <p:sp>
        <p:nvSpPr>
          <p:cNvPr id="11" name="NAV_BOX_10_2">
            <a:extLst>
              <a:ext uri="{FF2B5EF4-FFF2-40B4-BE49-F238E27FC236}">
                <a16:creationId xmlns:a16="http://schemas.microsoft.com/office/drawing/2014/main" id="{28108AD5-7C43-4FF2-9711-55E1888F173C}"/>
              </a:ext>
            </a:extLst>
          </p:cNvPr>
          <p:cNvSpPr/>
          <p:nvPr/>
        </p:nvSpPr>
        <p:spPr>
          <a:xfrm>
            <a:off x="2921000" y="254000"/>
            <a:ext cx="965200" cy="27940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7A8699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2" name="NAV_BOX_10_3">
            <a:extLst>
              <a:ext uri="{FF2B5EF4-FFF2-40B4-BE49-F238E27FC236}">
                <a16:creationId xmlns:a16="http://schemas.microsoft.com/office/drawing/2014/main" id="{26D76208-FDCE-414B-A057-00ED06C960DE}"/>
              </a:ext>
            </a:extLst>
          </p:cNvPr>
          <p:cNvSpPr/>
          <p:nvPr/>
        </p:nvSpPr>
        <p:spPr>
          <a:xfrm>
            <a:off x="4013200" y="254000"/>
            <a:ext cx="965200" cy="279400"/>
          </a:xfrm>
          <a:prstGeom prst="rect">
            <a:avLst/>
          </a:prstGeom>
          <a:solidFill>
            <a:srgbClr val="1F7A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ko-KR" altLang="en-US" sz="1050" b="1">
                <a:solidFill>
                  <a:srgbClr val="FFFFFF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13" name="BP_FOOTER_LINE_10">
            <a:extLst>
              <a:ext uri="{FF2B5EF4-FFF2-40B4-BE49-F238E27FC236}">
                <a16:creationId xmlns:a16="http://schemas.microsoft.com/office/drawing/2014/main" id="{FAE94166-B85E-4958-A0AF-EB7E029CF2AC}"/>
              </a:ext>
            </a:extLst>
          </p:cNvPr>
          <p:cNvSpPr/>
          <p:nvPr/>
        </p:nvSpPr>
        <p:spPr>
          <a:xfrm>
            <a:off x="736600" y="6451600"/>
            <a:ext cx="10718800" cy="15240"/>
          </a:xfrm>
          <a:prstGeom prst="rect">
            <a:avLst/>
          </a:prstGeom>
          <a:solidFill>
            <a:srgbClr val="E3E8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BP_FOOTER_TEXT_10">
            <a:extLst>
              <a:ext uri="{FF2B5EF4-FFF2-40B4-BE49-F238E27FC236}">
                <a16:creationId xmlns:a16="http://schemas.microsoft.com/office/drawing/2014/main" id="{397267A2-AE30-4FD3-ACA1-483A6195C88F}"/>
              </a:ext>
            </a:extLst>
          </p:cNvPr>
          <p:cNvSpPr txBox="1"/>
          <p:nvPr/>
        </p:nvSpPr>
        <p:spPr>
          <a:xfrm>
            <a:off x="736600" y="65278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 fontScale="85000" lnSpcReduction="20000"/>
          </a:bodyPr>
          <a:lstStyle/>
          <a:p>
            <a:pPr algn="l"/>
            <a:r>
              <a:rPr lang="ko-KR" altLang="en-US" sz="850">
                <a:solidFill>
                  <a:srgbClr val="7A8699"/>
                </a:solidFill>
                <a:latin typeface="맑은 고딕"/>
                <a:ea typeface="맑은 고딕"/>
              </a:rPr>
              <a:t>송파구 행정동별 복지 수요 분석</a:t>
            </a:r>
          </a:p>
        </p:txBody>
      </p:sp>
      <p:sp>
        <p:nvSpPr>
          <p:cNvPr id="15" name="BP_PAGE_10">
            <a:extLst>
              <a:ext uri="{FF2B5EF4-FFF2-40B4-BE49-F238E27FC236}">
                <a16:creationId xmlns:a16="http://schemas.microsoft.com/office/drawing/2014/main" id="{2ABC6381-DEA1-4DB7-BF40-2FFEE47DECA4}"/>
              </a:ext>
            </a:extLst>
          </p:cNvPr>
          <p:cNvSpPr txBox="1"/>
          <p:nvPr/>
        </p:nvSpPr>
        <p:spPr>
          <a:xfrm>
            <a:off x="11049000" y="65024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rmAutofit fontScale="92500" lnSpcReduction="10000"/>
          </a:bodyPr>
          <a:lstStyle/>
          <a:p>
            <a:pPr algn="r"/>
            <a:r>
              <a:rPr lang="ko-KR" sz="900" b="1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323426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66573B-5767-4722-8B93-5AE3A459232C}">
  <we:reference id="wa200010215" version="2.0.0.0" store="ko-KR" storeType="OMEX"/>
  <we:alternateReferences>
    <we:reference id="wa200010215" version="2.0.0.0" store="wa200010215" storeType="OMEX"/>
  </we:alternateReferences>
  <we:properties>
    <we:property name="bps.codex_control.document_id" value="&quot;ff77e39e-4edd-4c7d-ad9a-3f69551146a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856</Words>
  <Application>Microsoft Office PowerPoint</Application>
  <PresentationFormat>와이드스크린</PresentationFormat>
  <Paragraphs>117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Aptos</vt:lpstr>
      <vt:lpstr>Arial</vt:lpstr>
      <vt:lpstr>Office 테마</vt:lpstr>
      <vt:lpstr>송파구 행정동별 복지 수요 분석 및 개선 방향</vt:lpstr>
      <vt:lpstr>동별 인구구조 차이를 반영한 맞춤형 복지계획 필요</vt:lpstr>
      <vt:lpstr>송파구 인구는 전반적으로 감소하지만 일부 동은 크게 증가</vt:lpstr>
      <vt:lpstr>일시적 개발 효과와 장기 인구 이동의 구분</vt:lpstr>
      <vt:lpstr>행정동별 가구 특성과 복지수요</vt:lpstr>
      <vt:lpstr>절대 인구보다 ‘상대적 연령 편중’이 시설 수요를 더 잘 설명한다</vt:lpstr>
      <vt:lpstr>가구 규모와 연령대의 상관관계</vt:lpstr>
      <vt:lpstr>PowerPoint 프레젠테이션</vt:lpstr>
      <vt:lpstr>PowerPoint 프레젠테이션</vt:lpstr>
      <vt:lpstr>수요 유형별 우선 지역이 뚜렷하게 구분된다</vt:lpstr>
      <vt:lpstr>복합 수요 지역에는 단일 시설보다 통합형 복지 거점이 적합하다</vt:lpstr>
      <vt:lpstr>기존 시설 공급량을 결합해 투자 우선순위를 확정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12</cp:revision>
  <dcterms:created xsi:type="dcterms:W3CDTF">2026-08-20T05:44:42Z</dcterms:created>
  <dcterms:modified xsi:type="dcterms:W3CDTF">2026-08-20T07:32:21Z</dcterms:modified>
</cp:coreProperties>
</file>